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25: Seeing inside (LangSmith tracing and LangGraph Studio)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25: Seeing inside (LangSmith tracing and LangGraph Studio)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6  ·  DAY 25  ·  30 MIN SELF-STUDY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Seeing inside (LangSmith tracing and LangGraph Studio)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Debug AI graphs visually, with the cost and time of every step.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Turn on LangSmith tracing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Debug a graph visually in LangGraph Studio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Find the slowest and most expensive step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key needed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ANTHROPIC_API_KEY in code\.env (see setup guide)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4" name="timeline"/>
          <p:cNvSpPr/>
          <p:nvPr/>
        </p:nvSpPr>
        <p:spPr>
          <a:xfrm>
            <a:off x="5129784" y="1783080"/>
            <a:ext cx="0" cy="21259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5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0–8 min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Understand: picture + key ideas</a:t>
            </a:r>
            <a:endParaRPr lang="en-US" sz="1400" dirty="0"/>
          </a:p>
        </p:txBody>
      </p:sp>
      <p:sp>
        <p:nvSpPr>
          <p:cNvPr id="19" name="node 2"/>
          <p:cNvSpPr/>
          <p:nvPr/>
        </p:nvSpPr>
        <p:spPr>
          <a:xfrm>
            <a:off x="4937760" y="23088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22631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8–13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24917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and run the example code</a:t>
            </a:r>
            <a:endParaRPr lang="en-US" sz="1400" dirty="0"/>
          </a:p>
        </p:txBody>
      </p:sp>
      <p:sp>
        <p:nvSpPr>
          <p:cNvPr id="23" name="node 3"/>
          <p:cNvSpPr/>
          <p:nvPr/>
        </p:nvSpPr>
        <p:spPr>
          <a:xfrm>
            <a:off x="493776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971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13–23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yourself with AI</a:t>
            </a:r>
            <a:endParaRPr lang="en-US" sz="1400" dirty="0"/>
          </a:p>
        </p:txBody>
      </p:sp>
      <p:sp>
        <p:nvSpPr>
          <p:cNvPr id="27" name="node 4"/>
          <p:cNvSpPr/>
          <p:nvPr/>
        </p:nvSpPr>
        <p:spPr>
          <a:xfrm>
            <a:off x="4937760" y="37261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726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36804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23–30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9090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task, mistakes, quiz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picture in plain words</a:t>
            </a:r>
            <a:endParaRPr lang="en-US" sz="2800" dirty="0"/>
          </a:p>
        </p:txBody>
      </p:sp>
      <p:sp>
        <p:nvSpPr>
          <p:cNvPr id="3" name="analogy card"/>
          <p:cNvSpPr/>
          <p:nvPr/>
        </p:nvSpPr>
        <p:spPr>
          <a:xfrm>
            <a:off x="457200" y="1051560"/>
            <a:ext cx="82296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“</a:t>
            </a:r>
            <a:endParaRPr lang="en-US" sz="6000" dirty="0"/>
          </a:p>
        </p:txBody>
      </p:sp>
      <p:sp>
        <p:nvSpPr>
          <p:cNvPr id="5" name="analogy"/>
          <p:cNvSpPr txBox="1"/>
          <p:nvPr/>
        </p:nvSpPr>
        <p:spPr>
          <a:xfrm>
            <a:off x="960120" y="1783080"/>
            <a:ext cx="7223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CCTV for your office. You can replay exactly which desk did what, what the AI was told, what it answered, how long it took and what it cost.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ideas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dea 1"/>
          <p:cNvSpPr txBox="1"/>
          <p:nvPr/>
        </p:nvSpPr>
        <p:spPr>
          <a:xfrm>
            <a:off x="1051560" y="1097280"/>
            <a:ext cx="7635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LangSmith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(https://smith.langchain.com, has a free tier): add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LANGSMITH_TRACING=true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and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LANGSMITH_API_KEY=...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to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 Every run is then recorded as a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trace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 No code changes.</a:t>
            </a:r>
            <a:endParaRPr lang="en-US" sz="1500" dirty="0"/>
          </a:p>
        </p:txBody>
      </p:sp>
      <p:sp>
        <p:nvSpPr>
          <p:cNvPr id="6" name="node 2"/>
          <p:cNvSpPr/>
          <p:nvPr/>
        </p:nvSpPr>
        <p:spPr>
          <a:xfrm>
            <a:off x="457200" y="19568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dea 2"/>
          <p:cNvSpPr txBox="1"/>
          <p:nvPr/>
        </p:nvSpPr>
        <p:spPr>
          <a:xfrm>
            <a:off x="1051560" y="1938528"/>
            <a:ext cx="7635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LangGraph Studio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a visual debugger. Our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code/langgraph.json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already lists three graphs. In Studio you can click through nodes, send messages, see state at each step, answer interrupts, and re-run from an earlier step (time travel). </a:t>
            </a:r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(see the code slide)</a:t>
            </a:r>
            <a:endParaRPr lang="en-US" sz="1500" dirty="0"/>
          </a:p>
        </p:txBody>
      </p:sp>
      <p:sp>
        <p:nvSpPr>
          <p:cNvPr id="9" name="node 3"/>
          <p:cNvSpPr/>
          <p:nvPr/>
        </p:nvSpPr>
        <p:spPr>
          <a:xfrm>
            <a:off x="457200" y="302666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dea 3"/>
          <p:cNvSpPr txBox="1"/>
          <p:nvPr/>
        </p:nvSpPr>
        <p:spPr>
          <a:xfrm>
            <a:off x="1051560" y="3008376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Traces contain the prompts and data. Check company policy before tracing real employee data.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 in code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5029200" cy="3429000"/>
          </a:xfrm>
          <a:prstGeom prst="roundRect">
            <a:avLst>
              <a:gd name="adj" fmla="val 2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code/langgraph.json  +  .env</a:t>
            </a:r>
            <a:endParaRPr lang="en-US" sz="1000" dirty="0"/>
          </a:p>
        </p:txBody>
      </p:sp>
      <p:sp>
        <p:nvSpPr>
          <p:cNvPr id="5" name="code"/>
          <p:cNvSpPr txBox="1"/>
          <p:nvPr/>
        </p:nvSpPr>
        <p:spPr>
          <a:xfrm>
            <a:off x="640080" y="1508760"/>
            <a:ext cx="4663440" cy="28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"dependencies": ["."],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"graphs":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"routing":        "./day06_routing.py:graph",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"leave_approval": "./day21_human_approval.py:graph",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"helpdesk":       "./capstone_helpdesk_agent.py:graph"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"env": ".env"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LANGSMITH_TRACING=true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LANGSMITH_API_KEY=lsv2-your-key-here</a:t>
            </a:r>
            <a:endParaRPr lang="en-US" sz="1000" dirty="0"/>
          </a:p>
        </p:txBody>
      </p:sp>
      <p:sp>
        <p:nvSpPr>
          <p:cNvPr id="6" name="note 1"/>
          <p:cNvSpPr/>
          <p:nvPr/>
        </p:nvSpPr>
        <p:spPr>
          <a:xfrm>
            <a:off x="5669280" y="1051560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ode 1"/>
          <p:cNvSpPr/>
          <p:nvPr/>
        </p:nvSpPr>
        <p:spPr>
          <a:xfrm>
            <a:off x="5806440" y="11887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graphs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5270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Tells Studio which graphs exist: file name + variable name.</a:t>
            </a:r>
            <a:endParaRPr lang="en-US" sz="1200" dirty="0"/>
          </a:p>
        </p:txBody>
      </p:sp>
      <p:sp>
        <p:nvSpPr>
          <p:cNvPr id="11" name="note 2"/>
          <p:cNvSpPr/>
          <p:nvPr/>
        </p:nvSpPr>
        <p:spPr>
          <a:xfrm>
            <a:off x="5669280" y="2221992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de 2"/>
          <p:cNvSpPr/>
          <p:nvPr/>
        </p:nvSpPr>
        <p:spPr>
          <a:xfrm>
            <a:off x="5806440" y="23591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LANGSMITH_*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Two settings switch tracing on. No code changes needed.</a:t>
            </a:r>
            <a:endParaRPr lang="en-US" sz="1200" dirty="0"/>
          </a:p>
        </p:txBody>
      </p:sp>
      <p:sp>
        <p:nvSpPr>
          <p:cNvPr id="16" name="note 3"/>
          <p:cNvSpPr/>
          <p:nvPr/>
        </p:nvSpPr>
        <p:spPr>
          <a:xfrm>
            <a:off x="5669280" y="3392424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ode 3"/>
          <p:cNvSpPr/>
          <p:nvPr/>
        </p:nvSpPr>
        <p:spPr>
          <a:xfrm>
            <a:off x="5806440" y="3529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langgraph dev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867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Starts a local server and opens Studio in the browser.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Run it and compare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43584"/>
            <a:ext cx="6172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Switch on Python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950" dirty="0"/>
          </a:p>
        </p:txBody>
      </p:sp>
      <p:sp>
        <p:nvSpPr>
          <p:cNvPr id="8" name="node 2"/>
          <p:cNvSpPr/>
          <p:nvPr/>
        </p:nvSpPr>
        <p:spPr>
          <a:xfrm>
            <a:off x="25146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the example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 dev</a:t>
            </a:r>
            <a:endParaRPr lang="en-US" sz="950" dirty="0"/>
          </a:p>
        </p:txBody>
      </p:sp>
      <p:sp>
        <p:nvSpPr>
          <p:cNvPr id="12" name="node 3"/>
          <p:cNvSpPr/>
          <p:nvPr/>
        </p:nvSpPr>
        <p:spPr>
          <a:xfrm>
            <a:off x="45720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 the output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shape as below? It works.</a:t>
            </a:r>
            <a:endParaRPr lang="en-US" sz="1100" dirty="0"/>
          </a:p>
        </p:txBody>
      </p:sp>
      <p:sp>
        <p:nvSpPr>
          <p:cNvPr id="16" name="node 4"/>
          <p:cNvSpPr/>
          <p:nvPr/>
        </p:nvSpPr>
        <p:spPr>
          <a:xfrm>
            <a:off x="66294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Change one thing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Predict the result, run again.</a:t>
            </a:r>
            <a:endParaRPr lang="en-US" sz="1100" dirty="0"/>
          </a:p>
        </p:txBody>
      </p:sp>
      <p:sp>
        <p:nvSpPr>
          <p:cNvPr id="20" name="code panel"/>
          <p:cNvSpPr/>
          <p:nvPr/>
        </p:nvSpPr>
        <p:spPr>
          <a:xfrm>
            <a:off x="457200" y="2286000"/>
            <a:ext cx="8229600" cy="21945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EXPECTED OUTPUT</a:t>
            </a:r>
            <a:endParaRPr lang="en-US" sz="1000" dirty="0"/>
          </a:p>
        </p:txBody>
      </p:sp>
      <p:sp>
        <p:nvSpPr>
          <p:cNvPr id="22" name="code"/>
          <p:cNvSpPr txBox="1"/>
          <p:nvPr/>
        </p:nvSpPr>
        <p:spPr>
          <a:xfrm>
            <a:off x="640080" y="27432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langgraph dev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Ready!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API: http://127.0.0.1:2024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Studio UI: https://smith.langchain.com/studio/?baseUrl=http://127.0.0.1:2024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(example: Studio then opens in your browser)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Build it yourself with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Add to .env:  LANGSMITH_TRACING=true  and  LANGSMITH_API_KEY=...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Run python day16_agent_by_hand.py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Open smith.langchain.com and click the newest trace: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find the tool call, its time and its token cost.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pip install -U "langgraph-cli[inmem]"  then  langgraph dev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In Studio open 'leave_approval', submit a request, approve it.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44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61848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the generated file right away.</a:t>
            </a:r>
            <a:endParaRPr lang="en-US" sz="1150" dirty="0"/>
          </a:p>
        </p:txBody>
      </p:sp>
      <p:sp>
        <p:nvSpPr>
          <p:cNvPr id="11" name="node 2"/>
          <p:cNvSpPr/>
          <p:nvPr/>
        </p:nvSpPr>
        <p:spPr>
          <a:xfrm>
            <a:off x="6126480" y="216027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160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13283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why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0715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"Explain this line by line for a C# developer."</a:t>
            </a:r>
            <a:endParaRPr lang="en-US" sz="1150" dirty="0"/>
          </a:p>
        </p:txBody>
      </p:sp>
      <p:sp>
        <p:nvSpPr>
          <p:cNvPr id="15" name="node 3"/>
          <p:cNvSpPr/>
          <p:nvPr/>
        </p:nvSpPr>
        <p:spPr>
          <a:xfrm>
            <a:off x="6126480" y="29489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948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215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Break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19582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Try odd inputs: capitals, empty text, typos.</a:t>
            </a:r>
            <a:endParaRPr lang="en-US" sz="1150" dirty="0"/>
          </a:p>
        </p:txBody>
      </p:sp>
      <p:sp>
        <p:nvSpPr>
          <p:cNvPr id="19" name="node 4"/>
          <p:cNvSpPr/>
          <p:nvPr/>
        </p:nvSpPr>
        <p:spPr>
          <a:xfrm>
            <a:off x="6126480" y="373761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737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1017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8449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Compare with a colleague's version.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Check yourself and watch out</a:t>
            </a:r>
            <a:endParaRPr lang="en-US" sz="2800" dirty="0"/>
          </a:p>
        </p:txBody>
      </p:sp>
      <p:sp>
        <p:nvSpPr>
          <p:cNvPr id="3" name="check task card"/>
          <p:cNvSpPr/>
          <p:nvPr/>
        </p:nvSpPr>
        <p:spPr>
          <a:xfrm>
            <a:off x="457200" y="105156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YOUR CHECK TASK</a:t>
            </a:r>
            <a:endParaRPr lang="en-US" sz="1100" dirty="0"/>
          </a:p>
        </p:txBody>
      </p:sp>
      <p:sp>
        <p:nvSpPr>
          <p:cNvPr id="5" name="check task"/>
          <p:cNvSpPr txBox="1"/>
          <p:nvPr/>
        </p:nvSpPr>
        <p:spPr>
          <a:xfrm>
            <a:off x="685800" y="155448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In the trace, find (a) the slowest step and (b) the total tokens used. Write both in the team notes.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Score: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 works and you can explain it · 2 works with help · 1 attempted · 0 not tried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COMMON MISTAKES</a:t>
            </a:r>
            <a:endParaRPr lang="en-US" sz="1100" dirty="0"/>
          </a:p>
        </p:txBody>
      </p:sp>
      <p:sp>
        <p:nvSpPr>
          <p:cNvPr id="8" name="node !"/>
          <p:cNvSpPr/>
          <p:nvPr/>
        </p:nvSpPr>
        <p:spPr>
          <a:xfrm>
            <a:off x="4663440" y="141732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 traces appear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7647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Check both LANGSMITH_ settings in .env and restart the program.</a:t>
            </a:r>
            <a:endParaRPr lang="en-US" sz="1200" dirty="0"/>
          </a:p>
        </p:txBody>
      </p:sp>
      <p:sp>
        <p:nvSpPr>
          <p:cNvPr id="12" name="node !"/>
          <p:cNvSpPr/>
          <p:nvPr/>
        </p:nvSpPr>
        <p:spPr>
          <a:xfrm>
            <a:off x="4663440" y="244144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langgraph: command not found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88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Install the CLI in the active venv: pip install -U "langgraph-cli[inmem]".</a:t>
            </a:r>
            <a:endParaRPr lang="en-US" sz="1200" dirty="0"/>
          </a:p>
        </p:txBody>
      </p:sp>
      <p:sp>
        <p:nvSpPr>
          <p:cNvPr id="16" name="node !"/>
          <p:cNvSpPr/>
          <p:nvPr/>
        </p:nvSpPr>
        <p:spPr>
          <a:xfrm>
            <a:off x="4663440" y="346557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Tracing real employee data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8130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Traces store prompts and outputs. Check company policy first.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Quiz: 5 questions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 you need to switch on LangSmith tracing?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langgraph.json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tell Studio?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Name two things you can do in Studio that are hard in the terminal.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be careful with tracing real data?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command starts the local dev server?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Answer each one aloud or on paper before you look at the next slide. 1 point 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 answers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LANGSMITH_TRACING=true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and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LANGSMITH_API_KEY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environment variables.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graphs exist (file and variable name), plus the dependencies and the env file.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Examples: see state at each step visually, answer interrupts with a click, re-run from an earlier checkpoint, edit state.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Traces store prompts and outputs, which may include personal or confidential data.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 dev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Got 4–5 right? Great. Fewer? Re-read the key ideas slide and try the quiz again tomorrow.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25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Tracing = CCTV for every run, with time and cost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Studio lets you click through, approve and replay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Be careful what data ends up in traces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Quiz /5 + check task /3 + explain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someone /2 = your score /10.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move on · 5–7 re-read · 0–4 get a buddy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26: Testing your graphs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25: Seeing inside (LangSmith tracing and LangGraph Studio)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2026-10-24T05:21:16Z</dcterms:created>
  <dcterms:modified xsi:type="dcterms:W3CDTF">2026-10-24T05:21:16Z</dcterms:modified>
</cp:coreProperties>
</file>