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Course overview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Course overview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SELF-STUDY GUIDE  ·  32 SESSIONS  ·  30 MIN EACH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LangGraph from Zero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574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A day-by-day program for C# developers who are new to AI. You learn by vibe coding and, step by step, rebuild our portal's help-desk chatbot as a real AI agent.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20116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2697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sessions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20116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16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697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hours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0116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4–7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697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weeks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LangGraph in office words</a:t>
            </a:r>
            <a:endParaRPr lang="en-US" sz="2800" dirty="0"/>
          </a:p>
        </p:txBody>
      </p:sp>
      <p:sp>
        <p:nvSpPr>
          <p:cNvPr id="3" name="word State"/>
          <p:cNvSpPr/>
          <p:nvPr/>
        </p:nvSpPr>
        <p:spPr>
          <a:xfrm>
            <a:off x="457200" y="1097280"/>
            <a:ext cx="40233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594360" y="1271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70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State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463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folder that moves from desk to desk</a:t>
            </a:r>
            <a:endParaRPr lang="en-US" sz="1200" dirty="0"/>
          </a:p>
        </p:txBody>
      </p:sp>
      <p:sp>
        <p:nvSpPr>
          <p:cNvPr id="8" name="word Node"/>
          <p:cNvSpPr/>
          <p:nvPr/>
        </p:nvSpPr>
        <p:spPr>
          <a:xfrm>
            <a:off x="4663440" y="1097280"/>
            <a:ext cx="40233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ode 2"/>
          <p:cNvSpPr/>
          <p:nvPr/>
        </p:nvSpPr>
        <p:spPr>
          <a:xfrm>
            <a:off x="4800600" y="1271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170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Node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463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desk where one job gets done</a:t>
            </a:r>
            <a:endParaRPr lang="en-US" sz="1200" dirty="0"/>
          </a:p>
        </p:txBody>
      </p:sp>
      <p:sp>
        <p:nvSpPr>
          <p:cNvPr id="13" name="word Edge"/>
          <p:cNvSpPr/>
          <p:nvPr/>
        </p:nvSpPr>
        <p:spPr>
          <a:xfrm>
            <a:off x="457200" y="1947672"/>
            <a:ext cx="40233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ode 3"/>
          <p:cNvSpPr/>
          <p:nvPr/>
        </p:nvSpPr>
        <p:spPr>
          <a:xfrm>
            <a:off x="594360" y="21214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0208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Edge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313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hallway to the next desk</a:t>
            </a:r>
            <a:endParaRPr lang="en-US" sz="1200" dirty="0"/>
          </a:p>
        </p:txBody>
      </p:sp>
      <p:sp>
        <p:nvSpPr>
          <p:cNvPr id="18" name="word Conditional edge"/>
          <p:cNvSpPr/>
          <p:nvPr/>
        </p:nvSpPr>
        <p:spPr>
          <a:xfrm>
            <a:off x="4663440" y="1947672"/>
            <a:ext cx="40233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ode 4"/>
          <p:cNvSpPr/>
          <p:nvPr/>
        </p:nvSpPr>
        <p:spPr>
          <a:xfrm>
            <a:off x="4800600" y="21214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0208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Conditional edge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2313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receptionist choosing the hallway</a:t>
            </a:r>
            <a:endParaRPr lang="en-US" sz="1200" dirty="0"/>
          </a:p>
        </p:txBody>
      </p:sp>
      <p:sp>
        <p:nvSpPr>
          <p:cNvPr id="23" name="word Tools"/>
          <p:cNvSpPr/>
          <p:nvPr/>
        </p:nvSpPr>
        <p:spPr>
          <a:xfrm>
            <a:off x="457200" y="2798064"/>
            <a:ext cx="40233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ode 5"/>
          <p:cNvSpPr/>
          <p:nvPr/>
        </p:nvSpPr>
        <p:spPr>
          <a:xfrm>
            <a:off x="594360" y="29718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2871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Tools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31638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Phone extensions the AI may call</a:t>
            </a:r>
            <a:endParaRPr lang="en-US" sz="1200" dirty="0"/>
          </a:p>
        </p:txBody>
      </p:sp>
      <p:sp>
        <p:nvSpPr>
          <p:cNvPr id="28" name="word Checkpointer"/>
          <p:cNvSpPr/>
          <p:nvPr/>
        </p:nvSpPr>
        <p:spPr>
          <a:xfrm>
            <a:off x="4663440" y="2798064"/>
            <a:ext cx="40233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node 6"/>
          <p:cNvSpPr/>
          <p:nvPr/>
        </p:nvSpPr>
        <p:spPr>
          <a:xfrm>
            <a:off x="4800600" y="29718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006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2871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Checkpointer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31638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Filing cabinet: one drawer per chat</a:t>
            </a:r>
            <a:endParaRPr lang="en-US" sz="1200" dirty="0"/>
          </a:p>
        </p:txBody>
      </p:sp>
      <p:sp>
        <p:nvSpPr>
          <p:cNvPr id="33" name="word Interrupt"/>
          <p:cNvSpPr/>
          <p:nvPr/>
        </p:nvSpPr>
        <p:spPr>
          <a:xfrm>
            <a:off x="457200" y="3648456"/>
            <a:ext cx="40233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node 7"/>
          <p:cNvSpPr/>
          <p:nvPr/>
        </p:nvSpPr>
        <p:spPr>
          <a:xfrm>
            <a:off x="594360" y="38221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436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97280" y="3721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Interrupt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97280" y="4014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Manager's in-tray: wait for approval</a:t>
            </a:r>
            <a:endParaRPr lang="en-US" sz="1200" dirty="0"/>
          </a:p>
        </p:txBody>
      </p:sp>
      <p:sp>
        <p:nvSpPr>
          <p:cNvPr id="38" name="word Store"/>
          <p:cNvSpPr/>
          <p:nvPr/>
        </p:nvSpPr>
        <p:spPr>
          <a:xfrm>
            <a:off x="4663440" y="3648456"/>
            <a:ext cx="402336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node 8"/>
          <p:cNvSpPr/>
          <p:nvPr/>
        </p:nvSpPr>
        <p:spPr>
          <a:xfrm>
            <a:off x="4800600" y="38221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00600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303520" y="3721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Store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5303520" y="4014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Profile card that lasts across chats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route: 7 weeks, 32 sessions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881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Foundations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08813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Days 1–5</a:t>
            </a:r>
            <a:endParaRPr lang="en-US" sz="1300" dirty="0"/>
          </a:p>
        </p:txBody>
      </p:sp>
      <p:sp>
        <p:nvSpPr>
          <p:cNvPr id="7" name="node 2"/>
          <p:cNvSpPr/>
          <p:nvPr/>
        </p:nvSpPr>
        <p:spPr>
          <a:xfrm>
            <a:off x="457200" y="15361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57276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Graph mechanics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5727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Days 6–9</a:t>
            </a:r>
            <a:endParaRPr lang="en-US" sz="1300" dirty="0"/>
          </a:p>
        </p:txBody>
      </p:sp>
      <p:sp>
        <p:nvSpPr>
          <p:cNvPr id="11" name="node 3"/>
          <p:cNvSpPr/>
          <p:nvPr/>
        </p:nvSpPr>
        <p:spPr>
          <a:xfrm>
            <a:off x="457200" y="20208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0574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Adding the AI brain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0574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Days 10–14</a:t>
            </a:r>
            <a:endParaRPr lang="en-US" sz="1300" dirty="0"/>
          </a:p>
        </p:txBody>
      </p:sp>
      <p:sp>
        <p:nvSpPr>
          <p:cNvPr id="15" name="node 4"/>
          <p:cNvSpPr/>
          <p:nvPr/>
        </p:nvSpPr>
        <p:spPr>
          <a:xfrm>
            <a:off x="457200" y="25054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25420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Tools and agents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5420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Days 15–19</a:t>
            </a:r>
            <a:endParaRPr lang="en-US" sz="1300" dirty="0"/>
          </a:p>
        </p:txBody>
      </p:sp>
      <p:sp>
        <p:nvSpPr>
          <p:cNvPr id="19" name="node 5"/>
          <p:cNvSpPr/>
          <p:nvPr/>
        </p:nvSpPr>
        <p:spPr>
          <a:xfrm>
            <a:off x="457200" y="29900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02666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Memory and humans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0266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Days 20–23</a:t>
            </a:r>
            <a:endParaRPr lang="en-US" sz="1300" dirty="0"/>
          </a:p>
        </p:txBody>
      </p:sp>
      <p:sp>
        <p:nvSpPr>
          <p:cNvPr id="23" name="node 6"/>
          <p:cNvSpPr/>
          <p:nvPr/>
        </p:nvSpPr>
        <p:spPr>
          <a:xfrm>
            <a:off x="457200" y="34747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351129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Teams of agents and going to production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351129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Days 24–27</a:t>
            </a:r>
            <a:endParaRPr lang="en-US" sz="1300" dirty="0"/>
          </a:p>
        </p:txBody>
      </p:sp>
      <p:sp>
        <p:nvSpPr>
          <p:cNvPr id="27" name="node 7"/>
          <p:cNvSpPr/>
          <p:nvPr/>
        </p:nvSpPr>
        <p:spPr>
          <a:xfrm>
            <a:off x="457200" y="39593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" y="399592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Capstone, the Smart Office Help Desk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39959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Days 28–32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Only 4 weeks? Do two 30-minute sessions on 12 of the 20 days (see 4-week-fast-track.md).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to use these slides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698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Picture + key ideas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533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Understand the idea with the office analogy before any code.</a:t>
            </a:r>
            <a:endParaRPr lang="en-US" sz="1300" dirty="0"/>
          </a:p>
        </p:txBody>
      </p:sp>
      <p:sp>
        <p:nvSpPr>
          <p:cNvPr id="7" name="node 2"/>
          <p:cNvSpPr/>
          <p:nvPr/>
        </p:nvSpPr>
        <p:spPr>
          <a:xfrm>
            <a:off x="457200" y="17647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737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See it in code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0208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Read the annotated example, then run it and compare the output.</a:t>
            </a:r>
            <a:endParaRPr lang="en-US" sz="1300" dirty="0"/>
          </a:p>
        </p:txBody>
      </p:sp>
      <p:sp>
        <p:nvSpPr>
          <p:cNvPr id="11" name="node 3"/>
          <p:cNvSpPr/>
          <p:nvPr/>
        </p:nvSpPr>
        <p:spPr>
          <a:xfrm>
            <a:off x="457200" y="24323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4048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Build it with AI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68833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Paste the prompt into your AI assistant, run, ask why, break it.</a:t>
            </a:r>
            <a:endParaRPr lang="en-US" sz="1300" dirty="0"/>
          </a:p>
        </p:txBody>
      </p:sp>
      <p:sp>
        <p:nvSpPr>
          <p:cNvPr id="15" name="node 4"/>
          <p:cNvSpPr/>
          <p:nvPr/>
        </p:nvSpPr>
        <p:spPr>
          <a:xfrm>
            <a:off x="457200" y="30998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07238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Check yourself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3558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 the check task, read the common mistakes, take the quiz.</a:t>
            </a:r>
            <a:endParaRPr lang="en-US" sz="1300" dirty="0"/>
          </a:p>
        </p:txBody>
      </p:sp>
      <p:sp>
        <p:nvSpPr>
          <p:cNvPr id="19" name="node 5"/>
          <p:cNvSpPr/>
          <p:nvPr/>
        </p:nvSpPr>
        <p:spPr>
          <a:xfrm>
            <a:off x="457200" y="37673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767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7398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Wrap-up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023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Score yourself /10. Below 5? Re-read before the next day.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One-time setup (Windows)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12064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POWERSHELL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75488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https://github.com/rgkrishna85/engineering-portal.git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engineering-portal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claude/langraph-beginner-learning-st9sdp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 -m venv .venv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day04_first_graph.py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.env.example .env   # paste your AI key (Day 10+)</a:t>
            </a:r>
            <a:endParaRPr lang="en-US" sz="950" dirty="0"/>
          </a:p>
        </p:txBody>
      </p:sp>
      <p:sp>
        <p:nvSpPr>
          <p:cNvPr id="6" name="setup note 1"/>
          <p:cNvSpPr/>
          <p:nvPr/>
        </p:nvSpPr>
        <p:spPr>
          <a:xfrm>
            <a:off x="5760720" y="1051560"/>
            <a:ext cx="292608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0" y="1143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Install first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43560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Python 3.12+ (tick Add to PATH), VS Code + Python extension, Git, Node.js LTS (Day 18+).</a:t>
            </a:r>
            <a:endParaRPr lang="en-US" sz="1100" dirty="0"/>
          </a:p>
        </p:txBody>
      </p:sp>
      <p:sp>
        <p:nvSpPr>
          <p:cNvPr id="9" name="setup note 2"/>
          <p:cNvSpPr/>
          <p:nvPr/>
        </p:nvSpPr>
        <p:spPr>
          <a:xfrm>
            <a:off x="5760720" y="2221992"/>
            <a:ext cx="292608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2313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Expected result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60604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{'name': 'Priya', 'message': 'Hello Priya, welcome to the help desk!'}</a:t>
            </a:r>
            <a:endParaRPr lang="en-US" sz="1100" dirty="0"/>
          </a:p>
        </p:txBody>
      </p:sp>
      <p:sp>
        <p:nvSpPr>
          <p:cNvPr id="12" name="setup note 3"/>
          <p:cNvSpPr/>
          <p:nvPr/>
        </p:nvSpPr>
        <p:spPr>
          <a:xfrm>
            <a:off x="5760720" y="3392424"/>
            <a:ext cx="292608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0" y="34838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Full guide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377647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learning/langgraph/00-setup-and-cheatsheet.md: setup, C# → Python cheat sheet, vibe-coding rules.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from Zero: course overview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2026-10-24T05:21:15Z</dcterms:created>
  <dcterms:modified xsi:type="dcterms:W3CDTF">2026-10-24T05:21:15Z</dcterms:modified>
</cp:coreProperties>
</file>