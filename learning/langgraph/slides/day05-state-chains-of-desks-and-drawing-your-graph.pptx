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05: State, chains of desks, and drawing your graph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05: State, chains of desks, and drawing your graph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1  ·  DAY 05  ·  30 MIN SELF-STUDY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State, chains of desks, and drawing your graph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Understand how the state changes from desk to desk, and print the graph as a picture.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Chain several nodes in a row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Predict how the state changes after each node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Draw your graph as a picture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Today's reference file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code/day05_state_and_chain.py</a:t>
            </a:r>
            <a:endParaRPr lang="en-US" sz="1100" dirty="0"/>
          </a:p>
        </p:txBody>
      </p:sp>
      <p:sp>
        <p:nvSpPr>
          <p:cNvPr id="13" name="node "/>
          <p:cNvSpPr/>
          <p:nvPr/>
        </p:nvSpPr>
        <p:spPr>
          <a:xfrm>
            <a:off x="685800" y="33101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AI key needed today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38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runs free and offline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8" name="timeline"/>
          <p:cNvSpPr/>
          <p:nvPr/>
        </p:nvSpPr>
        <p:spPr>
          <a:xfrm>
            <a:off x="5129784" y="1783080"/>
            <a:ext cx="0" cy="21259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9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0–8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Understand: picture + key ideas</a:t>
            </a:r>
            <a:endParaRPr lang="en-US" sz="1400" dirty="0"/>
          </a:p>
        </p:txBody>
      </p:sp>
      <p:sp>
        <p:nvSpPr>
          <p:cNvPr id="23" name="node 2"/>
          <p:cNvSpPr/>
          <p:nvPr/>
        </p:nvSpPr>
        <p:spPr>
          <a:xfrm>
            <a:off x="4937760" y="23088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2631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8–13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24917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and run the example code</a:t>
            </a:r>
            <a:endParaRPr lang="en-US" sz="1400" dirty="0"/>
          </a:p>
        </p:txBody>
      </p:sp>
      <p:sp>
        <p:nvSpPr>
          <p:cNvPr id="27" name="node 3"/>
          <p:cNvSpPr/>
          <p:nvPr/>
        </p:nvSpPr>
        <p:spPr>
          <a:xfrm>
            <a:off x="493776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2971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13–23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yourself with AI</a:t>
            </a:r>
            <a:endParaRPr lang="en-US" sz="1400" dirty="0"/>
          </a:p>
        </p:txBody>
      </p:sp>
      <p:sp>
        <p:nvSpPr>
          <p:cNvPr id="31" name="node 4"/>
          <p:cNvSpPr/>
          <p:nvPr/>
        </p:nvSpPr>
        <p:spPr>
          <a:xfrm>
            <a:off x="4937760" y="37261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3726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36804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23–30 min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0" y="39090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task, mistakes, quiz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picture in plain words</a:t>
            </a:r>
            <a:endParaRPr lang="en-US" sz="2800" dirty="0"/>
          </a:p>
        </p:txBody>
      </p:sp>
      <p:sp>
        <p:nvSpPr>
          <p:cNvPr id="3" name="analogy card"/>
          <p:cNvSpPr/>
          <p:nvPr/>
        </p:nvSpPr>
        <p:spPr>
          <a:xfrm>
            <a:off x="457200" y="1051560"/>
            <a:ext cx="8229600" cy="1092200"/>
          </a:xfrm>
          <a:prstGeom prst="roundRect">
            <a:avLst>
              <a:gd name="adj" fmla="val 837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05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“</a:t>
            </a:r>
            <a:endParaRPr lang="en-US" sz="4400" dirty="0"/>
          </a:p>
        </p:txBody>
      </p:sp>
      <p:sp>
        <p:nvSpPr>
          <p:cNvPr id="5" name="analogy"/>
          <p:cNvSpPr txBox="1"/>
          <p:nvPr/>
        </p:nvSpPr>
        <p:spPr>
          <a:xfrm>
            <a:off x="1143000" y="1234440"/>
            <a:ext cx="731520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Each desk adds notes to the same folder. Nobody erases what others wrote unless they write to the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same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field.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2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 FLOOR PLAN</a:t>
            </a:r>
            <a:endParaRPr lang="en-US" sz="1100" dirty="0"/>
          </a:p>
        </p:txBody>
      </p:sp>
      <p:sp>
        <p:nvSpPr>
          <p:cNvPr id="7" name="code panel"/>
          <p:cNvSpPr/>
          <p:nvPr/>
        </p:nvSpPr>
        <p:spPr>
          <a:xfrm>
            <a:off x="457200" y="2692400"/>
            <a:ext cx="8229600" cy="579120"/>
          </a:xfrm>
          <a:prstGeom prst="roundRect">
            <a:avLst>
              <a:gd name="adj" fmla="val 1578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40080" y="2829560"/>
            <a:ext cx="786384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-&gt; receive -&gt; clean_text -&gt; assign_id -&gt; END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ideas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dea 1"/>
          <p:cNvSpPr txBox="1"/>
          <p:nvPr/>
        </p:nvSpPr>
        <p:spPr>
          <a:xfrm>
            <a:off x="1051560" y="1097280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TypedDict, total=False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means fields may be empty at the start.</a:t>
            </a:r>
            <a:endParaRPr lang="en-US" sz="1500" dirty="0"/>
          </a:p>
        </p:txBody>
      </p:sp>
      <p:sp>
        <p:nvSpPr>
          <p:cNvPr id="6" name="node 2"/>
          <p:cNvSpPr/>
          <p:nvPr/>
        </p:nvSpPr>
        <p:spPr>
          <a:xfrm>
            <a:off x="457200" y="16824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dea 2"/>
          <p:cNvSpPr txBox="1"/>
          <p:nvPr/>
        </p:nvSpPr>
        <p:spPr>
          <a:xfrm>
            <a:off x="1051560" y="1664208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node returns a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partial update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 LangGraph merges it into the folder.</a:t>
            </a:r>
            <a:endParaRPr lang="en-US" sz="1500" dirty="0"/>
          </a:p>
        </p:txBody>
      </p:sp>
      <p:sp>
        <p:nvSpPr>
          <p:cNvPr id="9" name="node 3"/>
          <p:cNvSpPr/>
          <p:nvPr/>
        </p:nvSpPr>
        <p:spPr>
          <a:xfrm>
            <a:off x="457200" y="224942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dea 3"/>
          <p:cNvSpPr txBox="1"/>
          <p:nvPr/>
        </p:nvSpPr>
        <p:spPr>
          <a:xfrm>
            <a:off x="1051560" y="2231136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graph.get_graph().draw_mermaid()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prints the floor plan. Paste it into https://mermaid.live to see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 in code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5029200" cy="3429000"/>
          </a:xfrm>
          <a:prstGeom prst="roundRect">
            <a:avLst>
              <a:gd name="adj" fmla="val 2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code/day05_state_and_chain.py</a:t>
            </a:r>
            <a:endParaRPr lang="en-US" sz="1000" dirty="0"/>
          </a:p>
        </p:txBody>
      </p:sp>
      <p:sp>
        <p:nvSpPr>
          <p:cNvPr id="5" name="code"/>
          <p:cNvSpPr txBox="1"/>
          <p:nvPr/>
        </p:nvSpPr>
        <p:spPr>
          <a:xfrm>
            <a:off x="640080" y="1508760"/>
            <a:ext cx="4663440" cy="28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TicketState(TypedDict, total=False):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raw_text: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clean_text: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ticket_id: str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clean_text(state):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{"clean_text": state["raw_text"].strip().lower()}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builder.add_edge(START, "receive")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builder.add_edge("receive", "clean_text")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builder.add_edge("clean_text", "assign_id")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builder.add_edge("assign_id", END)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print(graph.get_graph().draw_mermaid())</a:t>
            </a:r>
            <a:endParaRPr lang="en-US" sz="1000" dirty="0"/>
          </a:p>
        </p:txBody>
      </p:sp>
      <p:sp>
        <p:nvSpPr>
          <p:cNvPr id="6" name="note 1"/>
          <p:cNvSpPr/>
          <p:nvPr/>
        </p:nvSpPr>
        <p:spPr>
          <a:xfrm>
            <a:off x="5669280" y="1051560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ode 1"/>
          <p:cNvSpPr/>
          <p:nvPr/>
        </p:nvSpPr>
        <p:spPr>
          <a:xfrm>
            <a:off x="5806440" y="11887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total=False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5270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Fields may be empty at the start. Each desk fills its own field.</a:t>
            </a:r>
            <a:endParaRPr lang="en-US" sz="1200" dirty="0"/>
          </a:p>
        </p:txBody>
      </p:sp>
      <p:sp>
        <p:nvSpPr>
          <p:cNvPr id="11" name="note 2"/>
          <p:cNvSpPr/>
          <p:nvPr/>
        </p:nvSpPr>
        <p:spPr>
          <a:xfrm>
            <a:off x="5669280" y="2221992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de 2"/>
          <p:cNvSpPr/>
          <p:nvPr/>
        </p:nvSpPr>
        <p:spPr>
          <a:xfrm>
            <a:off x="5806440" y="23591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 chain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Edges in a row: receive → clean_text → assign_id. They run in that order.</a:t>
            </a:r>
            <a:endParaRPr lang="en-US" sz="1200" dirty="0"/>
          </a:p>
        </p:txBody>
      </p:sp>
      <p:sp>
        <p:nvSpPr>
          <p:cNvPr id="16" name="note 3"/>
          <p:cNvSpPr/>
          <p:nvPr/>
        </p:nvSpPr>
        <p:spPr>
          <a:xfrm>
            <a:off x="5669280" y="3392424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ode 3"/>
          <p:cNvSpPr/>
          <p:nvPr/>
        </p:nvSpPr>
        <p:spPr>
          <a:xfrm>
            <a:off x="5806440" y="3529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draw_mermaid()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867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Prints the floor plan as text. Paste it into mermaid.live to see the picture.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Run it and compare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43584"/>
            <a:ext cx="6172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Switch on Python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950" dirty="0"/>
          </a:p>
        </p:txBody>
      </p:sp>
      <p:sp>
        <p:nvSpPr>
          <p:cNvPr id="8" name="node 2"/>
          <p:cNvSpPr/>
          <p:nvPr/>
        </p:nvSpPr>
        <p:spPr>
          <a:xfrm>
            <a:off x="25146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the example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day05_state_and_chain.py</a:t>
            </a:r>
            <a:endParaRPr lang="en-US" sz="950" dirty="0"/>
          </a:p>
        </p:txBody>
      </p:sp>
      <p:sp>
        <p:nvSpPr>
          <p:cNvPr id="12" name="node 3"/>
          <p:cNvSpPr/>
          <p:nvPr/>
        </p:nvSpPr>
        <p:spPr>
          <a:xfrm>
            <a:off x="45720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 the output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shape as below? It works.</a:t>
            </a:r>
            <a:endParaRPr lang="en-US" sz="1100" dirty="0"/>
          </a:p>
        </p:txBody>
      </p:sp>
      <p:sp>
        <p:nvSpPr>
          <p:cNvPr id="16" name="node 4"/>
          <p:cNvSpPr/>
          <p:nvPr/>
        </p:nvSpPr>
        <p:spPr>
          <a:xfrm>
            <a:off x="66294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Change one thing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Predict the result, run again.</a:t>
            </a:r>
            <a:endParaRPr lang="en-US" sz="1100" dirty="0"/>
          </a:p>
        </p:txBody>
      </p:sp>
      <p:sp>
        <p:nvSpPr>
          <p:cNvPr id="20" name="code panel"/>
          <p:cNvSpPr/>
          <p:nvPr/>
        </p:nvSpPr>
        <p:spPr>
          <a:xfrm>
            <a:off x="457200" y="2286000"/>
            <a:ext cx="8229600" cy="21945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EXPECTED OUTPUT</a:t>
            </a:r>
            <a:endParaRPr lang="en-US" sz="1000" dirty="0"/>
          </a:p>
        </p:txBody>
      </p:sp>
      <p:sp>
        <p:nvSpPr>
          <p:cNvPr id="22" name="code"/>
          <p:cNvSpPr txBox="1"/>
          <p:nvPr/>
        </p:nvSpPr>
        <p:spPr>
          <a:xfrm>
            <a:off x="640080" y="27432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 day05_state_and_chain.py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[receive]    got:    My VPN is NOT working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[clean_text] -&gt; my vpn is not working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[assign_id]  -&gt; TKT-0021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folder: {'raw_text': '...', 'clean_text': 'my vpn is not working',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'ticket_id': 'TKT-0021', 'log': 'received &gt; cleaned &gt; id assigned'}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Mermaid diagram: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TD;  __start__ --&gt; receive;  receive --&gt; clean_text;  ...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Build it yourself with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LangGraph 1.x, Python beginner.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A ticket-intake graph with 3 nodes in a row: receive (logs it), clean_text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(strip + lowercase), assign_id (makes "TKT-0021" from the text length).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Each node prints what it did. At the end print the final state and a mermaid diagram.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44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61848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the generated file right away.</a:t>
            </a:r>
            <a:endParaRPr lang="en-US" sz="1150" dirty="0"/>
          </a:p>
        </p:txBody>
      </p:sp>
      <p:sp>
        <p:nvSpPr>
          <p:cNvPr id="11" name="node 2"/>
          <p:cNvSpPr/>
          <p:nvPr/>
        </p:nvSpPr>
        <p:spPr>
          <a:xfrm>
            <a:off x="6126480" y="216027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160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13283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why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0715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"Explain this line by line for a C# developer."</a:t>
            </a:r>
            <a:endParaRPr lang="en-US" sz="1150" dirty="0"/>
          </a:p>
        </p:txBody>
      </p:sp>
      <p:sp>
        <p:nvSpPr>
          <p:cNvPr id="15" name="node 3"/>
          <p:cNvSpPr/>
          <p:nvPr/>
        </p:nvSpPr>
        <p:spPr>
          <a:xfrm>
            <a:off x="6126480" y="29489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948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215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Break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19582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Try odd inputs: capitals, empty text, typos.</a:t>
            </a:r>
            <a:endParaRPr lang="en-US" sz="1150" dirty="0"/>
          </a:p>
        </p:txBody>
      </p:sp>
      <p:sp>
        <p:nvSpPr>
          <p:cNvPr id="19" name="node 4"/>
          <p:cNvSpPr/>
          <p:nvPr/>
        </p:nvSpPr>
        <p:spPr>
          <a:xfrm>
            <a:off x="6126480" y="373761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737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1017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8449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Open code/day05_state_and_chain.py and spot the differences.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Check yourself and watch out</a:t>
            </a:r>
            <a:endParaRPr lang="en-US" sz="2800" dirty="0"/>
          </a:p>
        </p:txBody>
      </p:sp>
      <p:sp>
        <p:nvSpPr>
          <p:cNvPr id="3" name="check task card"/>
          <p:cNvSpPr/>
          <p:nvPr/>
        </p:nvSpPr>
        <p:spPr>
          <a:xfrm>
            <a:off x="457200" y="105156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YOUR CHECK TASK</a:t>
            </a:r>
            <a:endParaRPr lang="en-US" sz="1100" dirty="0"/>
          </a:p>
        </p:txBody>
      </p:sp>
      <p:sp>
        <p:nvSpPr>
          <p:cNvPr id="5" name="check task"/>
          <p:cNvSpPr txBox="1"/>
          <p:nvPr/>
        </p:nvSpPr>
        <p:spPr>
          <a:xfrm>
            <a:off x="685800" y="155448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Add a 4th node,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add_priority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, which sets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= "high"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if the text contains "urgent" and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"normal"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otherwise. Show it in the diagram.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Score: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 works and you can explain it · 2 works with help · 1 attempted · 0 not tried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COMMON MISTAKES</a:t>
            </a:r>
            <a:endParaRPr lang="en-US" sz="1100" dirty="0"/>
          </a:p>
        </p:txBody>
      </p:sp>
      <p:sp>
        <p:nvSpPr>
          <p:cNvPr id="8" name="node !"/>
          <p:cNvSpPr/>
          <p:nvPr/>
        </p:nvSpPr>
        <p:spPr>
          <a:xfrm>
            <a:off x="4663440" y="141732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Two nodes write the same field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7647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last one wins (it overwrites). Use different fields, or a reducer (Day 8).</a:t>
            </a:r>
            <a:endParaRPr lang="en-US" sz="1200" dirty="0"/>
          </a:p>
        </p:txBody>
      </p:sp>
      <p:sp>
        <p:nvSpPr>
          <p:cNvPr id="12" name="node !"/>
          <p:cNvSpPr/>
          <p:nvPr/>
        </p:nvSpPr>
        <p:spPr>
          <a:xfrm>
            <a:off x="4663440" y="244144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Node not connected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88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node with no edge into it never runs. Check the diagram.</a:t>
            </a:r>
            <a:endParaRPr lang="en-US" sz="1200" dirty="0"/>
          </a:p>
        </p:txBody>
      </p:sp>
      <p:sp>
        <p:nvSpPr>
          <p:cNvPr id="16" name="node !"/>
          <p:cNvSpPr/>
          <p:nvPr/>
        </p:nvSpPr>
        <p:spPr>
          <a:xfrm>
            <a:off x="4663440" y="346557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Diagram looks empty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8130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Copy the WHOLE mermaid text, including the first '---' lines.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Quiz: 5 questions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total=False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on a TypedDict allow?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Two nodes in a row write to the same field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 Which value is kept?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do you see a picture of your graph?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should a node return only what it changes?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what order do the nodes run in a simple chain?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Answer each one aloud or on paper before you look at the next slide. 1 point 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 answers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Fields can be missing (not set yet) when the graph starts.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last one written. A normal field is overwritten (Day 8 shows how to 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merge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instead).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graph.get_graph().draw_mermaid()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, then paste the output into mermaid.live.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keeps nodes independent and avoids accidentally overwriting other fields.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the order the edges connect them, from START to END.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Got 4–5 right? Great. Fewer? Re-read the key ideas slide and try the quiz again tomorrow.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05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Each node adds notes to the same folder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plain field is overwritten by the last writer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draw_mermaid() + mermaid.live = instant picture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Quiz /5 + check task /3 + explain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someone /2 = your score /10.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move on · 5–7 re-read · 0–4 get a buddy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06: Conditional edges (routing)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05: State, chains of desks, and drawing your graph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2026-10-24T05:21:15Z</dcterms:created>
  <dcterms:modified xsi:type="dcterms:W3CDTF">2026-10-24T05:21:15Z</dcterms:modified>
</cp:coreProperties>
</file>