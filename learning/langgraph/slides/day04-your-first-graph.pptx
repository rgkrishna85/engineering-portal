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LangGraph from Zero · Day 04: Your first graph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LangGraph from Zero · Day 04: Your first graph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WEEK 1  ·  DAY 04  ·  30 MIN SELF-STUDY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Your first graph</a:t>
            </a:r>
            <a:endParaRPr lang="en-US" sz="3600" dirty="0"/>
          </a:p>
        </p:txBody>
      </p:sp>
      <p:sp>
        <p:nvSpPr>
          <p:cNvPr id="4" name="goal"/>
          <p:cNvSpPr txBox="1"/>
          <p:nvPr/>
        </p:nvSpPr>
        <p:spPr>
          <a:xfrm>
            <a:off x="457200" y="205740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Build, compile and run a one-desk graph. Learn the 5 core words: </a:t>
            </a:r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State, Node, Edge, compile, invoke</a:t>
            </a:r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.</a:t>
            </a:r>
            <a:endParaRPr lang="en-US" sz="1600" dirty="0"/>
          </a:p>
        </p:txBody>
      </p:sp>
      <p:sp>
        <p:nvSpPr>
          <p:cNvPr id="5" name="outcomes card"/>
          <p:cNvSpPr/>
          <p:nvPr/>
        </p:nvSpPr>
        <p:spPr>
          <a:xfrm>
            <a:off x="5029200" y="1965960"/>
            <a:ext cx="3657600" cy="2377440"/>
          </a:xfrm>
          <a:prstGeom prst="roundRect">
            <a:avLst>
              <a:gd name="adj" fmla="val 384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578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BY THE END YOU CAN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5257800" y="255117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57800" y="2551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Name the 5 steps of every LangGraph program</a:t>
            </a:r>
            <a:endParaRPr lang="en-US" sz="1300" dirty="0"/>
          </a:p>
        </p:txBody>
      </p:sp>
      <p:sp>
        <p:nvSpPr>
          <p:cNvPr id="10" name="node 2"/>
          <p:cNvSpPr/>
          <p:nvPr/>
        </p:nvSpPr>
        <p:spPr>
          <a:xfrm>
            <a:off x="5257800" y="311810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3081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Build, compile and run a one-node graph</a:t>
            </a:r>
            <a:endParaRPr lang="en-US" sz="1300" dirty="0"/>
          </a:p>
        </p:txBody>
      </p:sp>
      <p:sp>
        <p:nvSpPr>
          <p:cNvPr id="13" name="node 3"/>
          <p:cNvSpPr/>
          <p:nvPr/>
        </p:nvSpPr>
        <p:spPr>
          <a:xfrm>
            <a:off x="5257800" y="3685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36484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Explain what invoke() returns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Before you start</a:t>
            </a:r>
            <a:endParaRPr lang="en-US" sz="2800" dirty="0"/>
          </a:p>
        </p:txBody>
      </p:sp>
      <p:sp>
        <p:nvSpPr>
          <p:cNvPr id="3" name="checklist card"/>
          <p:cNvSpPr/>
          <p:nvPr/>
        </p:nvSpPr>
        <p:spPr>
          <a:xfrm>
            <a:off x="457200" y="1051560"/>
            <a:ext cx="41148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CHECKLIST</a:t>
            </a:r>
            <a:endParaRPr lang="en-US" sz="1100" dirty="0"/>
          </a:p>
        </p:txBody>
      </p:sp>
      <p:sp>
        <p:nvSpPr>
          <p:cNvPr id="5" name="node "/>
          <p:cNvSpPr/>
          <p:nvPr/>
        </p:nvSpPr>
        <p:spPr>
          <a:xfrm>
            <a:off x="685800" y="157276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72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17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Switch on Python (VS Code terminal)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013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learning\langgraph\code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1100" dirty="0"/>
          </a:p>
        </p:txBody>
      </p:sp>
      <p:sp>
        <p:nvSpPr>
          <p:cNvPr id="9" name="node "/>
          <p:cNvSpPr/>
          <p:nvPr/>
        </p:nvSpPr>
        <p:spPr>
          <a:xfrm>
            <a:off x="685800" y="24414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441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386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Today's reference file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6700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code/day04_first_graph.py</a:t>
            </a:r>
            <a:endParaRPr lang="en-US" sz="1100" dirty="0"/>
          </a:p>
        </p:txBody>
      </p:sp>
      <p:sp>
        <p:nvSpPr>
          <p:cNvPr id="13" name="node "/>
          <p:cNvSpPr/>
          <p:nvPr/>
        </p:nvSpPr>
        <p:spPr>
          <a:xfrm>
            <a:off x="685800" y="331012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310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255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AI key needed today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5387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Everything runs free and offline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YOUR 30 MINUTES</a:t>
            </a:r>
            <a:endParaRPr lang="en-US" sz="1100" dirty="0"/>
          </a:p>
        </p:txBody>
      </p:sp>
      <p:sp>
        <p:nvSpPr>
          <p:cNvPr id="18" name="timeline"/>
          <p:cNvSpPr/>
          <p:nvPr/>
        </p:nvSpPr>
        <p:spPr>
          <a:xfrm>
            <a:off x="5129784" y="1783080"/>
            <a:ext cx="0" cy="212598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9" name="node 1"/>
          <p:cNvSpPr/>
          <p:nvPr/>
        </p:nvSpPr>
        <p:spPr>
          <a:xfrm>
            <a:off x="4937760" y="16002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1554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0–8 min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Understand: picture + key ideas</a:t>
            </a:r>
            <a:endParaRPr lang="en-US" sz="1400" dirty="0"/>
          </a:p>
        </p:txBody>
      </p:sp>
      <p:sp>
        <p:nvSpPr>
          <p:cNvPr id="23" name="node 2"/>
          <p:cNvSpPr/>
          <p:nvPr/>
        </p:nvSpPr>
        <p:spPr>
          <a:xfrm>
            <a:off x="4937760" y="23088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0" y="23088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22631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8–13 min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24917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and run the example code</a:t>
            </a:r>
            <a:endParaRPr lang="en-US" sz="1400" dirty="0"/>
          </a:p>
        </p:txBody>
      </p:sp>
      <p:sp>
        <p:nvSpPr>
          <p:cNvPr id="27" name="node 3"/>
          <p:cNvSpPr/>
          <p:nvPr/>
        </p:nvSpPr>
        <p:spPr>
          <a:xfrm>
            <a:off x="4937760" y="30175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377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29718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13–23 min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it yourself with AI</a:t>
            </a:r>
            <a:endParaRPr lang="en-US" sz="1400" dirty="0"/>
          </a:p>
        </p:txBody>
      </p:sp>
      <p:sp>
        <p:nvSpPr>
          <p:cNvPr id="31" name="node 4"/>
          <p:cNvSpPr/>
          <p:nvPr/>
        </p:nvSpPr>
        <p:spPr>
          <a:xfrm>
            <a:off x="4937760" y="37261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37760" y="37261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0" y="36804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23–30 min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0" y="39090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task, mistakes, quiz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picture in plain words</a:t>
            </a:r>
            <a:endParaRPr lang="en-US" sz="2800" dirty="0"/>
          </a:p>
        </p:txBody>
      </p:sp>
      <p:sp>
        <p:nvSpPr>
          <p:cNvPr id="3" name="analogy card"/>
          <p:cNvSpPr/>
          <p:nvPr/>
        </p:nvSpPr>
        <p:spPr>
          <a:xfrm>
            <a:off x="457200" y="1051560"/>
            <a:ext cx="8229600" cy="1092200"/>
          </a:xfrm>
          <a:prstGeom prst="roundRect">
            <a:avLst>
              <a:gd name="adj" fmla="val 837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058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“</a:t>
            </a:r>
            <a:endParaRPr lang="en-US" sz="4400" dirty="0"/>
          </a:p>
        </p:txBody>
      </p:sp>
      <p:sp>
        <p:nvSpPr>
          <p:cNvPr id="5" name="analogy"/>
          <p:cNvSpPr txBox="1"/>
          <p:nvPr/>
        </p:nvSpPr>
        <p:spPr>
          <a:xfrm>
            <a:off x="1143000" y="1234440"/>
            <a:ext cx="7315200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 visitor's folder says </a:t>
            </a:r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Priya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. The greet desk writes a welcome message on it. The folder leaves.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72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THE FLOOR PLAN</a:t>
            </a:r>
            <a:endParaRPr lang="en-US" sz="1100" dirty="0"/>
          </a:p>
        </p:txBody>
      </p:sp>
      <p:sp>
        <p:nvSpPr>
          <p:cNvPr id="7" name="code panel"/>
          <p:cNvSpPr/>
          <p:nvPr/>
        </p:nvSpPr>
        <p:spPr>
          <a:xfrm>
            <a:off x="457200" y="2692400"/>
            <a:ext cx="8229600" cy="579120"/>
          </a:xfrm>
          <a:prstGeom prst="roundRect">
            <a:avLst>
              <a:gd name="adj" fmla="val 1578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40080" y="2829560"/>
            <a:ext cx="786384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--&gt; greet_desk --&gt; END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Key ideas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1155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idea 1"/>
          <p:cNvSpPr txBox="1"/>
          <p:nvPr/>
        </p:nvSpPr>
        <p:spPr>
          <a:xfrm>
            <a:off x="1051560" y="1097280"/>
            <a:ext cx="7635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Define the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State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(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State(TypedDict)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)</a:t>
            </a:r>
            <a:endParaRPr lang="en-US" sz="1500" dirty="0"/>
          </a:p>
        </p:txBody>
      </p:sp>
      <p:sp>
        <p:nvSpPr>
          <p:cNvPr id="6" name="node 2"/>
          <p:cNvSpPr/>
          <p:nvPr/>
        </p:nvSpPr>
        <p:spPr>
          <a:xfrm>
            <a:off x="457200" y="16824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idea 2"/>
          <p:cNvSpPr txBox="1"/>
          <p:nvPr/>
        </p:nvSpPr>
        <p:spPr>
          <a:xfrm>
            <a:off x="1051560" y="1664208"/>
            <a:ext cx="7635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Write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node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functions: read the state,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return only the fields you change</a:t>
            </a:r>
            <a:endParaRPr lang="en-US" sz="1500" dirty="0"/>
          </a:p>
        </p:txBody>
      </p:sp>
      <p:sp>
        <p:nvSpPr>
          <p:cNvPr id="9" name="node 3"/>
          <p:cNvSpPr/>
          <p:nvPr/>
        </p:nvSpPr>
        <p:spPr>
          <a:xfrm>
            <a:off x="457200" y="224942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idea 3"/>
          <p:cNvSpPr txBox="1"/>
          <p:nvPr/>
        </p:nvSpPr>
        <p:spPr>
          <a:xfrm>
            <a:off x="1051560" y="2231136"/>
            <a:ext cx="7635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Build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: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StateGraph(State)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,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add_node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,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add_edge</a:t>
            </a:r>
            <a:endParaRPr lang="en-US" sz="1500" dirty="0"/>
          </a:p>
        </p:txBody>
      </p:sp>
      <p:sp>
        <p:nvSpPr>
          <p:cNvPr id="12" name="node 4"/>
          <p:cNvSpPr/>
          <p:nvPr/>
        </p:nvSpPr>
        <p:spPr>
          <a:xfrm>
            <a:off x="457200" y="28163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idea 4"/>
          <p:cNvSpPr txBox="1"/>
          <p:nvPr/>
        </p:nvSpPr>
        <p:spPr>
          <a:xfrm>
            <a:off x="1051560" y="2798064"/>
            <a:ext cx="7635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Compile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: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builder.compile()</a:t>
            </a:r>
            <a:endParaRPr lang="en-US" sz="1500" dirty="0"/>
          </a:p>
        </p:txBody>
      </p:sp>
      <p:sp>
        <p:nvSpPr>
          <p:cNvPr id="15" name="node 5"/>
          <p:cNvSpPr/>
          <p:nvPr/>
        </p:nvSpPr>
        <p:spPr>
          <a:xfrm>
            <a:off x="457200" y="3383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idea 5"/>
          <p:cNvSpPr txBox="1"/>
          <p:nvPr/>
        </p:nvSpPr>
        <p:spPr>
          <a:xfrm>
            <a:off x="1051560" y="3364992"/>
            <a:ext cx="7635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Run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: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graph.invoke({...})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See it in code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051560"/>
            <a:ext cx="5029200" cy="3429000"/>
          </a:xfrm>
          <a:prstGeom prst="roundRect">
            <a:avLst>
              <a:gd name="adj" fmla="val 2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code/day04_first_graph.py</a:t>
            </a:r>
            <a:endParaRPr lang="en-US" sz="1000" dirty="0"/>
          </a:p>
        </p:txBody>
      </p:sp>
      <p:sp>
        <p:nvSpPr>
          <p:cNvPr id="5" name="code"/>
          <p:cNvSpPr txBox="1"/>
          <p:nvPr/>
        </p:nvSpPr>
        <p:spPr>
          <a:xfrm>
            <a:off x="640080" y="1508760"/>
            <a:ext cx="4663440" cy="2834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State(TypedDict):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str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message: str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greet_desk(state: State) -&gt; dict: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{"message": f"Hello {state['name']}!"}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 = StateGraph(State)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builder.add_node("greet_desk", greet_desk)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builder.add_edge(START, "greet_desk")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builder.add_edge("greet_desk", END)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= builder.compile()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print(graph.invoke({"name": "Priya"}))</a:t>
            </a:r>
            <a:endParaRPr lang="en-US" sz="1200" dirty="0"/>
          </a:p>
        </p:txBody>
      </p:sp>
      <p:sp>
        <p:nvSpPr>
          <p:cNvPr id="6" name="note 1"/>
          <p:cNvSpPr/>
          <p:nvPr/>
        </p:nvSpPr>
        <p:spPr>
          <a:xfrm>
            <a:off x="5669280" y="1051560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node 1"/>
          <p:cNvSpPr/>
          <p:nvPr/>
        </p:nvSpPr>
        <p:spPr>
          <a:xfrm>
            <a:off x="5806440" y="11887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0644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161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State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152704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folder. A TypedDict listing what can be written on it.</a:t>
            </a:r>
            <a:endParaRPr lang="en-US" sz="1200" dirty="0"/>
          </a:p>
        </p:txBody>
      </p:sp>
      <p:sp>
        <p:nvSpPr>
          <p:cNvPr id="11" name="note 2"/>
          <p:cNvSpPr/>
          <p:nvPr/>
        </p:nvSpPr>
        <p:spPr>
          <a:xfrm>
            <a:off x="5669280" y="2221992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ode 2"/>
          <p:cNvSpPr/>
          <p:nvPr/>
        </p:nvSpPr>
        <p:spPr>
          <a:xfrm>
            <a:off x="5806440" y="235915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06440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Node returns a dict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26974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Only the fields it changes. LangGraph merges them into the folder.</a:t>
            </a:r>
            <a:endParaRPr lang="en-US" sz="1200" dirty="0"/>
          </a:p>
        </p:txBody>
      </p:sp>
      <p:sp>
        <p:nvSpPr>
          <p:cNvPr id="16" name="note 3"/>
          <p:cNvSpPr/>
          <p:nvPr/>
        </p:nvSpPr>
        <p:spPr>
          <a:xfrm>
            <a:off x="5669280" y="3392424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ode 3"/>
          <p:cNvSpPr/>
          <p:nvPr/>
        </p:nvSpPr>
        <p:spPr>
          <a:xfrm>
            <a:off x="5806440" y="352958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06440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502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compile() then invoke()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806440" y="386791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Lock the floor plan, then hand in a folder and get the finished one back.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Run it and compare</a:t>
            </a:r>
            <a:endParaRPr lang="en-US" sz="2800" dirty="0"/>
          </a:p>
        </p:txBody>
      </p:sp>
      <p:sp>
        <p:nvSpPr>
          <p:cNvPr id="3" name="steps line"/>
          <p:cNvSpPr/>
          <p:nvPr/>
        </p:nvSpPr>
        <p:spPr>
          <a:xfrm>
            <a:off x="649224" y="1243584"/>
            <a:ext cx="6172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node 1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Switch on Python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950" dirty="0"/>
          </a:p>
        </p:txBody>
      </p:sp>
      <p:sp>
        <p:nvSpPr>
          <p:cNvPr id="8" name="node 2"/>
          <p:cNvSpPr/>
          <p:nvPr/>
        </p:nvSpPr>
        <p:spPr>
          <a:xfrm>
            <a:off x="25146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146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Run the example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day04_first_graph.py</a:t>
            </a:r>
            <a:endParaRPr lang="en-US" sz="950" dirty="0"/>
          </a:p>
        </p:txBody>
      </p:sp>
      <p:sp>
        <p:nvSpPr>
          <p:cNvPr id="12" name="node 3"/>
          <p:cNvSpPr/>
          <p:nvPr/>
        </p:nvSpPr>
        <p:spPr>
          <a:xfrm>
            <a:off x="45720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Compare the output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Same shape as below? It works.</a:t>
            </a:r>
            <a:endParaRPr lang="en-US" sz="1100" dirty="0"/>
          </a:p>
        </p:txBody>
      </p:sp>
      <p:sp>
        <p:nvSpPr>
          <p:cNvPr id="16" name="node 4"/>
          <p:cNvSpPr/>
          <p:nvPr/>
        </p:nvSpPr>
        <p:spPr>
          <a:xfrm>
            <a:off x="66294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Change one thing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Predict the result, run again.</a:t>
            </a:r>
            <a:endParaRPr lang="en-US" sz="1100" dirty="0"/>
          </a:p>
        </p:txBody>
      </p:sp>
      <p:sp>
        <p:nvSpPr>
          <p:cNvPr id="20" name="code panel"/>
          <p:cNvSpPr/>
          <p:nvPr/>
        </p:nvSpPr>
        <p:spPr>
          <a:xfrm>
            <a:off x="457200" y="2286000"/>
            <a:ext cx="8229600" cy="2194560"/>
          </a:xfrm>
          <a:prstGeom prst="roundRect">
            <a:avLst>
              <a:gd name="adj" fmla="val 41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4231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EXPECTED OUTPUT</a:t>
            </a:r>
            <a:endParaRPr lang="en-US" sz="1000" dirty="0"/>
          </a:p>
        </p:txBody>
      </p:sp>
      <p:sp>
        <p:nvSpPr>
          <p:cNvPr id="22" name="code"/>
          <p:cNvSpPr txBox="1"/>
          <p:nvPr/>
        </p:nvSpPr>
        <p:spPr>
          <a:xfrm>
            <a:off x="640080" y="274320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python day04_first_graph.py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{'name': 'Priya', 'message': 'Hello Priya, welcome to the help desk!'}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Build it yourself with AI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PASTE INTO CLAUDE CODE / COPILOT CHAT</a:t>
            </a:r>
            <a:endParaRPr lang="en-US" sz="1100" dirty="0"/>
          </a:p>
        </p:txBody>
      </p:sp>
      <p:sp>
        <p:nvSpPr>
          <p:cNvPr id="4" name="prompt card"/>
          <p:cNvSpPr/>
          <p:nvPr/>
        </p:nvSpPr>
        <p:spPr>
          <a:xfrm>
            <a:off x="457200" y="1325880"/>
            <a:ext cx="539496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mpt"/>
          <p:cNvSpPr txBox="1"/>
          <p:nvPr/>
        </p:nvSpPr>
        <p:spPr>
          <a:xfrm>
            <a:off x="640080" y="1463040"/>
            <a:ext cx="5029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LangGraph 1.x, Python, I'm a beginner from C#.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The smallest possible LangGraph graph. State has 'name' and 'message'.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One node 'greet_desk' writes "Hello &lt;name&gt;, welcome to the help desk!".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STRUCTURE: START -&gt; greet_desk -&gt; END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RULES: comment each of the 5 steps (state, node, build, compile, invoke).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024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THEN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6126480" y="137160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3441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 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61848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Run the generated file right away.</a:t>
            </a:r>
            <a:endParaRPr lang="en-US" sz="1150" dirty="0"/>
          </a:p>
        </p:txBody>
      </p:sp>
      <p:sp>
        <p:nvSpPr>
          <p:cNvPr id="11" name="node 2"/>
          <p:cNvSpPr/>
          <p:nvPr/>
        </p:nvSpPr>
        <p:spPr>
          <a:xfrm>
            <a:off x="6126480" y="216027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2160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13283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Ask why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40715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"Explain this line by line for a C# developer."</a:t>
            </a:r>
            <a:endParaRPr lang="en-US" sz="1150" dirty="0"/>
          </a:p>
        </p:txBody>
      </p:sp>
      <p:sp>
        <p:nvSpPr>
          <p:cNvPr id="15" name="node 3"/>
          <p:cNvSpPr/>
          <p:nvPr/>
        </p:nvSpPr>
        <p:spPr>
          <a:xfrm>
            <a:off x="6126480" y="294894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29489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9215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Break it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19582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Try odd inputs: capitals, empty text, typos.</a:t>
            </a:r>
            <a:endParaRPr lang="en-US" sz="1150" dirty="0"/>
          </a:p>
        </p:txBody>
      </p:sp>
      <p:sp>
        <p:nvSpPr>
          <p:cNvPr id="19" name="node 4"/>
          <p:cNvSpPr/>
          <p:nvPr/>
        </p:nvSpPr>
        <p:spPr>
          <a:xfrm>
            <a:off x="6126480" y="373761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37376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71017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Compare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398449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Open code/day04_first_graph.py and spot the differences.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Check yourself and watch out</a:t>
            </a:r>
            <a:endParaRPr lang="en-US" sz="2800" dirty="0"/>
          </a:p>
        </p:txBody>
      </p:sp>
      <p:sp>
        <p:nvSpPr>
          <p:cNvPr id="3" name="check task card"/>
          <p:cNvSpPr/>
          <p:nvPr/>
        </p:nvSpPr>
        <p:spPr>
          <a:xfrm>
            <a:off x="457200" y="1051560"/>
            <a:ext cx="3931920" cy="34290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07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YOUR CHECK TASK</a:t>
            </a:r>
            <a:endParaRPr lang="en-US" sz="1100" dirty="0"/>
          </a:p>
        </p:txBody>
      </p:sp>
      <p:sp>
        <p:nvSpPr>
          <p:cNvPr id="5" name="check task"/>
          <p:cNvSpPr txBox="1"/>
          <p:nvPr/>
        </p:nvSpPr>
        <p:spPr>
          <a:xfrm>
            <a:off x="685800" y="1554480"/>
            <a:ext cx="3474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Add a second field </a:t>
            </a:r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 to the state, pass </a:t>
            </a:r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"IT"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 into </a:t>
            </a:r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, and have the message say </a:t>
            </a:r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 Priya from IT ..."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611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Score: 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3 works and you can explain it · 2 works with help · 1 attempted · 0 not tried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COMMON MISTAKES</a:t>
            </a:r>
            <a:endParaRPr lang="en-US" sz="1100" dirty="0"/>
          </a:p>
        </p:txBody>
      </p:sp>
      <p:sp>
        <p:nvSpPr>
          <p:cNvPr id="8" name="node !"/>
          <p:cNvSpPr/>
          <p:nvPr/>
        </p:nvSpPr>
        <p:spPr>
          <a:xfrm>
            <a:off x="4663440" y="141732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'StateGraph' object has no attribute 'invoke'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76479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You forgot graph = builder.compile(). Invoke the compiled graph.</a:t>
            </a:r>
            <a:endParaRPr lang="en-US" sz="1200" dirty="0"/>
          </a:p>
        </p:txBody>
      </p:sp>
      <p:sp>
        <p:nvSpPr>
          <p:cNvPr id="12" name="node !"/>
          <p:cNvSpPr/>
          <p:nvPr/>
        </p:nvSpPr>
        <p:spPr>
          <a:xfrm>
            <a:off x="4663440" y="2441448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441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4140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KeyError: 'name'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7889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You didn't pass name into invoke(). The node read a field that is empty.</a:t>
            </a:r>
            <a:endParaRPr lang="en-US" sz="1200" dirty="0"/>
          </a:p>
        </p:txBody>
      </p:sp>
      <p:sp>
        <p:nvSpPr>
          <p:cNvPr id="16" name="node !"/>
          <p:cNvSpPr/>
          <p:nvPr/>
        </p:nvSpPr>
        <p:spPr>
          <a:xfrm>
            <a:off x="4663440" y="3465576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3465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4381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Node returns the whole state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81304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Works, but return only what you change. It avoids overwriting other fields.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Quiz: 5 questions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does a node function receive, and what should it return?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happens if you forget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builder.compile()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?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are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and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?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Your node returns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{"message": "hi"}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 What happens to the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field?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is the C# analogy for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StateGraph(State)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plus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add_node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plus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?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Answer each one aloud or on paper before you look at the next slide. 1 point each.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 answers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receives the current state and returns a dict containing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only the fields it wants to change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You have only a builder. There's nothing to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, so you get an error.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Special built-in markers for the entrance and the exit of the graph.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stays unchanged. Nodes update only the keys they return.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builder pattern: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Builder().AddX().Build()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Got 4–5 right? Great. Fewer? Re-read the key ideas slide and try the quiz again tomorrow.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DAY 04 WRAP-UP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4" name="node 1"/>
          <p:cNvSpPr/>
          <p:nvPr/>
        </p:nvSpPr>
        <p:spPr>
          <a:xfrm>
            <a:off x="457200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6550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State → Nodes → Build → Compile → Invoke</a:t>
            </a:r>
            <a:endParaRPr lang="en-US" sz="1600" dirty="0"/>
          </a:p>
        </p:txBody>
      </p:sp>
      <p:sp>
        <p:nvSpPr>
          <p:cNvPr id="7" name="node 2"/>
          <p:cNvSpPr/>
          <p:nvPr/>
        </p:nvSpPr>
        <p:spPr>
          <a:xfrm>
            <a:off x="457200" y="235000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3134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Nodes return only what they change</a:t>
            </a:r>
            <a:endParaRPr lang="en-US" sz="1600" dirty="0"/>
          </a:p>
        </p:txBody>
      </p:sp>
      <p:sp>
        <p:nvSpPr>
          <p:cNvPr id="10" name="node 3"/>
          <p:cNvSpPr/>
          <p:nvPr/>
        </p:nvSpPr>
        <p:spPr>
          <a:xfrm>
            <a:off x="457200" y="30083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71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invoke() returns the final state (the finished folder)</a:t>
            </a:r>
            <a:endParaRPr lang="en-US" sz="1600" dirty="0"/>
          </a:p>
        </p:txBody>
      </p:sp>
      <p:sp>
        <p:nvSpPr>
          <p:cNvPr id="13" name="score card"/>
          <p:cNvSpPr/>
          <p:nvPr/>
        </p:nvSpPr>
        <p:spPr>
          <a:xfrm>
            <a:off x="5349240" y="1691640"/>
            <a:ext cx="3337560" cy="1463040"/>
          </a:xfrm>
          <a:prstGeom prst="roundRect">
            <a:avLst>
              <a:gd name="adj" fmla="val 625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1801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SCORE YOURSELF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21031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Quiz /5 + check task /3 + explain 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to someone /2 = your score /10.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8–10 move on · 5–7 re-read · 0–4 get a buddy</a:t>
            </a:r>
            <a:endParaRPr lang="en-US" sz="1200" dirty="0"/>
          </a:p>
        </p:txBody>
      </p:sp>
      <p:sp>
        <p:nvSpPr>
          <p:cNvPr id="16" name="next card"/>
          <p:cNvSpPr/>
          <p:nvPr/>
        </p:nvSpPr>
        <p:spPr>
          <a:xfrm>
            <a:off x="5349240" y="3291840"/>
            <a:ext cx="333756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3383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NEXT UP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63931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Day 05: State, chains of desks, and drawing your graph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ngGraph Help Desk">
  <a:themeElements>
    <a:clrScheme name="LangGraph Help Desk">
      <a:dk1>
        <a:srgbClr val="1F2328"/>
      </a:dk1>
      <a:lt1>
        <a:srgbClr val="FFFFFF"/>
      </a:lt1>
      <a:dk2>
        <a:srgbClr val="0E3B43"/>
      </a:dk2>
      <a:lt2>
        <a:srgbClr val="EAF3F1"/>
      </a:lt2>
      <a:accent1>
        <a:srgbClr val="0E7C7B"/>
      </a:accent1>
      <a:accent2>
        <a:srgbClr val="F2A541"/>
      </a:accent2>
      <a:accent3>
        <a:srgbClr val="D9534F"/>
      </a:accent3>
      <a:accent4>
        <a:srgbClr val="5B8E7D"/>
      </a:accent4>
      <a:accent5>
        <a:srgbClr val="1E2A32"/>
      </a:accent5>
      <a:accent6>
        <a:srgbClr val="C9DEDA"/>
      </a:accent6>
      <a:hlink>
        <a:srgbClr val="0E7C7B"/>
      </a:hlink>
      <a:folHlink>
        <a:srgbClr val="5B8E7D"/>
      </a:folHlink>
    </a:clrScheme>
    <a:fontScheme name="LangGraph Help De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04: Your first graph</dc:title>
  <dc:subject>LangGraph self-study guide</dc:subject>
  <dc:creator>Engineering Portal LangGraph program</dc:creator>
  <cp:lastModifiedBy>Engineering Portal LangGraph program</cp:lastModifiedBy>
  <cp:revision>1</cp:revision>
  <dcterms:created xsi:type="dcterms:W3CDTF">2026-10-24T05:21:15Z</dcterms:created>
  <dcterms:modified xsi:type="dcterms:W3CDTF">2026-10-24T05:21:15Z</dcterms:modified>
</cp:coreProperties>
</file>