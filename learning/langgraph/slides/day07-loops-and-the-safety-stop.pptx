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 txBox="1"/>
          <p:nvPr/>
        </p:nvSpPr>
        <p:spPr>
          <a:xfrm>
            <a:off x="457200" y="47960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LangGraph from Zero · Day 07: Loops and the safety stop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960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LangGraph from Zero · Day 07: Loops and the safety stop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WEEK 2  ·  DAY 07  ·  30 MIN SELF-STUDY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Loops and the safety stop</a:t>
            </a:r>
            <a:endParaRPr lang="en-US" sz="3600" dirty="0"/>
          </a:p>
        </p:txBody>
      </p:sp>
      <p:sp>
        <p:nvSpPr>
          <p:cNvPr id="4" name="goal"/>
          <p:cNvSpPr txBox="1"/>
          <p:nvPr/>
        </p:nvSpPr>
        <p:spPr>
          <a:xfrm>
            <a:off x="457200" y="2057400"/>
            <a:ext cx="4206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Send the folder back to an earlier desk, and always have a way out.</a:t>
            </a:r>
            <a:endParaRPr lang="en-US" sz="1600" dirty="0"/>
          </a:p>
        </p:txBody>
      </p:sp>
      <p:sp>
        <p:nvSpPr>
          <p:cNvPr id="5" name="outcomes card"/>
          <p:cNvSpPr/>
          <p:nvPr/>
        </p:nvSpPr>
        <p:spPr>
          <a:xfrm>
            <a:off x="5029200" y="1965960"/>
            <a:ext cx="3657600" cy="2377440"/>
          </a:xfrm>
          <a:prstGeom prst="roundRect">
            <a:avLst>
              <a:gd name="adj" fmla="val 3846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257800" y="2103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BY THE END YOU CAN</a:t>
            </a:r>
            <a:endParaRPr lang="en-US" sz="1100" dirty="0"/>
          </a:p>
        </p:txBody>
      </p:sp>
      <p:sp>
        <p:nvSpPr>
          <p:cNvPr id="7" name="node 1"/>
          <p:cNvSpPr/>
          <p:nvPr/>
        </p:nvSpPr>
        <p:spPr>
          <a:xfrm>
            <a:off x="5257800" y="2551176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257800" y="2551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715000" y="25146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Build a loop with a conditional edge</a:t>
            </a:r>
            <a:endParaRPr lang="en-US" sz="1300" dirty="0"/>
          </a:p>
        </p:txBody>
      </p:sp>
      <p:sp>
        <p:nvSpPr>
          <p:cNvPr id="10" name="node 2"/>
          <p:cNvSpPr/>
          <p:nvPr/>
        </p:nvSpPr>
        <p:spPr>
          <a:xfrm>
            <a:off x="5257800" y="3118104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57800" y="3118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715000" y="30815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Always give a loop a way out</a:t>
            </a:r>
            <a:endParaRPr lang="en-US" sz="1300" dirty="0"/>
          </a:p>
        </p:txBody>
      </p:sp>
      <p:sp>
        <p:nvSpPr>
          <p:cNvPr id="13" name="node 3"/>
          <p:cNvSpPr/>
          <p:nvPr/>
        </p:nvSpPr>
        <p:spPr>
          <a:xfrm>
            <a:off x="5257800" y="368503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57800" y="3685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715000" y="364845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Use recursion_limit as a safety net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Before you start</a:t>
            </a:r>
            <a:endParaRPr lang="en-US" sz="2800" dirty="0"/>
          </a:p>
        </p:txBody>
      </p:sp>
      <p:sp>
        <p:nvSpPr>
          <p:cNvPr id="3" name="checklist card"/>
          <p:cNvSpPr/>
          <p:nvPr/>
        </p:nvSpPr>
        <p:spPr>
          <a:xfrm>
            <a:off x="457200" y="1051560"/>
            <a:ext cx="4114800" cy="34290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CHECKLIST</a:t>
            </a:r>
            <a:endParaRPr lang="en-US" sz="1100" dirty="0"/>
          </a:p>
        </p:txBody>
      </p:sp>
      <p:sp>
        <p:nvSpPr>
          <p:cNvPr id="5" name="node "/>
          <p:cNvSpPr/>
          <p:nvPr/>
        </p:nvSpPr>
        <p:spPr>
          <a:xfrm>
            <a:off x="685800" y="157276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727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5179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Switch on Python (VS Code terminal)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80136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learning\langgraph\code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.venv\Scripts\activate</a:t>
            </a:r>
            <a:endParaRPr lang="en-US" sz="1100" dirty="0"/>
          </a:p>
        </p:txBody>
      </p:sp>
      <p:sp>
        <p:nvSpPr>
          <p:cNvPr id="9" name="node "/>
          <p:cNvSpPr/>
          <p:nvPr/>
        </p:nvSpPr>
        <p:spPr>
          <a:xfrm>
            <a:off x="685800" y="244144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4414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3865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Today's reference file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67004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code/day07_loops.py</a:t>
            </a:r>
            <a:endParaRPr lang="en-US" sz="1100" dirty="0"/>
          </a:p>
        </p:txBody>
      </p:sp>
      <p:sp>
        <p:nvSpPr>
          <p:cNvPr id="13" name="node "/>
          <p:cNvSpPr/>
          <p:nvPr/>
        </p:nvSpPr>
        <p:spPr>
          <a:xfrm>
            <a:off x="685800" y="331012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3101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2552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 AI key needed today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353872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Everything runs free and offline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93776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YOUR 30 MINUTES</a:t>
            </a:r>
            <a:endParaRPr lang="en-US" sz="1100" dirty="0"/>
          </a:p>
        </p:txBody>
      </p:sp>
      <p:sp>
        <p:nvSpPr>
          <p:cNvPr id="18" name="timeline"/>
          <p:cNvSpPr/>
          <p:nvPr/>
        </p:nvSpPr>
        <p:spPr>
          <a:xfrm>
            <a:off x="5129784" y="1783080"/>
            <a:ext cx="0" cy="212598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19" name="node 1"/>
          <p:cNvSpPr/>
          <p:nvPr/>
        </p:nvSpPr>
        <p:spPr>
          <a:xfrm>
            <a:off x="4937760" y="16002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3776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0" y="15544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0–8 min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Understand: picture + key ideas</a:t>
            </a:r>
            <a:endParaRPr lang="en-US" sz="1400" dirty="0"/>
          </a:p>
        </p:txBody>
      </p:sp>
      <p:sp>
        <p:nvSpPr>
          <p:cNvPr id="23" name="node 2"/>
          <p:cNvSpPr/>
          <p:nvPr/>
        </p:nvSpPr>
        <p:spPr>
          <a:xfrm>
            <a:off x="4937760" y="23088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937760" y="23088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0" y="22631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8–13 min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0" y="24917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Read and run the example code</a:t>
            </a:r>
            <a:endParaRPr lang="en-US" sz="1400" dirty="0"/>
          </a:p>
        </p:txBody>
      </p:sp>
      <p:sp>
        <p:nvSpPr>
          <p:cNvPr id="27" name="node 3"/>
          <p:cNvSpPr/>
          <p:nvPr/>
        </p:nvSpPr>
        <p:spPr>
          <a:xfrm>
            <a:off x="4937760" y="30175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93776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0" y="29718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13–23 min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0" y="3200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Build it yourself with AI</a:t>
            </a:r>
            <a:endParaRPr lang="en-US" sz="1400" dirty="0"/>
          </a:p>
        </p:txBody>
      </p:sp>
      <p:sp>
        <p:nvSpPr>
          <p:cNvPr id="31" name="node 4"/>
          <p:cNvSpPr/>
          <p:nvPr/>
        </p:nvSpPr>
        <p:spPr>
          <a:xfrm>
            <a:off x="4937760" y="37261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937760" y="37261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0" y="36804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23–30 min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0" y="39090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Check task, mistakes, quiz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The picture in plain words</a:t>
            </a:r>
            <a:endParaRPr lang="en-US" sz="2800" dirty="0"/>
          </a:p>
        </p:txBody>
      </p:sp>
      <p:sp>
        <p:nvSpPr>
          <p:cNvPr id="3" name="analogy card"/>
          <p:cNvSpPr/>
          <p:nvPr/>
        </p:nvSpPr>
        <p:spPr>
          <a:xfrm>
            <a:off x="457200" y="1051560"/>
            <a:ext cx="8229600" cy="140970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0058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“</a:t>
            </a:r>
            <a:endParaRPr lang="en-US" sz="4400" dirty="0"/>
          </a:p>
        </p:txBody>
      </p:sp>
      <p:sp>
        <p:nvSpPr>
          <p:cNvPr id="5" name="analogy"/>
          <p:cNvSpPr txBox="1"/>
          <p:nvPr/>
        </p:nvSpPr>
        <p:spPr>
          <a:xfrm>
            <a:off x="1143000" y="1234440"/>
            <a:ext cx="7315200" cy="1043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A quality checker returns a draft reply to the writer: "Not good enough, try again." After 3 tries we send it anyway. Nobody loops forever.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6898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THE FLOOR PLAN</a:t>
            </a:r>
            <a:endParaRPr lang="en-US" sz="1100" dirty="0"/>
          </a:p>
        </p:txBody>
      </p:sp>
      <p:sp>
        <p:nvSpPr>
          <p:cNvPr id="7" name="code panel"/>
          <p:cNvSpPr/>
          <p:nvPr/>
        </p:nvSpPr>
        <p:spPr>
          <a:xfrm>
            <a:off x="457200" y="3009900"/>
            <a:ext cx="8229600" cy="792480"/>
          </a:xfrm>
          <a:prstGeom prst="roundRect">
            <a:avLst>
              <a:gd name="adj" fmla="val 11538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code"/>
          <p:cNvSpPr txBox="1"/>
          <p:nvPr/>
        </p:nvSpPr>
        <p:spPr>
          <a:xfrm>
            <a:off x="640080" y="3147060"/>
            <a:ext cx="7863840" cy="518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-&gt; write_reply -&gt; check_quality --(retry)--&gt; write_reply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--(done)---&gt; END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Key ideas</a:t>
            </a:r>
            <a:endParaRPr lang="en-US" sz="2800" dirty="0"/>
          </a:p>
        </p:txBody>
      </p:sp>
      <p:sp>
        <p:nvSpPr>
          <p:cNvPr id="3" name="node 1"/>
          <p:cNvSpPr/>
          <p:nvPr/>
        </p:nvSpPr>
        <p:spPr>
          <a:xfrm>
            <a:off x="457200" y="111556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1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idea 1"/>
          <p:cNvSpPr txBox="1"/>
          <p:nvPr/>
        </p:nvSpPr>
        <p:spPr>
          <a:xfrm>
            <a:off x="1051560" y="1097280"/>
            <a:ext cx="7635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loop is just a conditional edge that points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backwards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</p:txBody>
      </p:sp>
      <p:sp>
        <p:nvSpPr>
          <p:cNvPr id="6" name="node 2"/>
          <p:cNvSpPr/>
          <p:nvPr/>
        </p:nvSpPr>
        <p:spPr>
          <a:xfrm>
            <a:off x="457200" y="168249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idea 2"/>
          <p:cNvSpPr txBox="1"/>
          <p:nvPr/>
        </p:nvSpPr>
        <p:spPr>
          <a:xfrm>
            <a:off x="1051560" y="1664208"/>
            <a:ext cx="7635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Always keep a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counter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in the state (</a:t>
            </a:r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attempts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) and stop at a maximum.</a:t>
            </a:r>
            <a:endParaRPr lang="en-US" sz="1500" dirty="0"/>
          </a:p>
        </p:txBody>
      </p:sp>
      <p:sp>
        <p:nvSpPr>
          <p:cNvPr id="9" name="node 3"/>
          <p:cNvSpPr/>
          <p:nvPr/>
        </p:nvSpPr>
        <p:spPr>
          <a:xfrm>
            <a:off x="457200" y="224942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249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idea 3"/>
          <p:cNvSpPr txBox="1"/>
          <p:nvPr/>
        </p:nvSpPr>
        <p:spPr>
          <a:xfrm>
            <a:off x="1051560" y="2231136"/>
            <a:ext cx="7635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LangGraph's built-in safety net is </a:t>
            </a:r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recursion_limit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, which raises </a:t>
            </a:r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GraphRecursionError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</p:txBody>
      </p:sp>
      <p:sp>
        <p:nvSpPr>
          <p:cNvPr id="12" name="node 4"/>
          <p:cNvSpPr/>
          <p:nvPr/>
        </p:nvSpPr>
        <p:spPr>
          <a:xfrm>
            <a:off x="457200" y="286207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862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idea 4"/>
          <p:cNvSpPr txBox="1"/>
          <p:nvPr/>
        </p:nvSpPr>
        <p:spPr>
          <a:xfrm>
            <a:off x="1051560" y="2843784"/>
            <a:ext cx="7635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Why it matters: with AI, every loop costs money, so a runaway loop is a big bill.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See it in code</a:t>
            </a:r>
            <a:endParaRPr lang="en-US" sz="2800" dirty="0"/>
          </a:p>
        </p:txBody>
      </p:sp>
      <p:sp>
        <p:nvSpPr>
          <p:cNvPr id="3" name="code panel"/>
          <p:cNvSpPr/>
          <p:nvPr/>
        </p:nvSpPr>
        <p:spPr>
          <a:xfrm>
            <a:off x="457200" y="1051560"/>
            <a:ext cx="5029200" cy="3429000"/>
          </a:xfrm>
          <a:prstGeom prst="roundRect">
            <a:avLst>
              <a:gd name="adj" fmla="val 266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code/day07_loops.py</a:t>
            </a:r>
            <a:endParaRPr lang="en-US" sz="1000" dirty="0"/>
          </a:p>
        </p:txBody>
      </p:sp>
      <p:sp>
        <p:nvSpPr>
          <p:cNvPr id="5" name="code"/>
          <p:cNvSpPr txBox="1"/>
          <p:nvPr/>
        </p:nvSpPr>
        <p:spPr>
          <a:xfrm>
            <a:off x="640080" y="1508760"/>
            <a:ext cx="4663440" cy="2834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write_reply(state):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attempts = state.get("attempts", 0) + 1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{"draft": "...", "attempts": attempts}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should_retry(state) -&gt; str: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state["approved"] or state["attempts"] &gt;= 3: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"done"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"retry"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builder.add_conditional_edges("check_quality",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should_retry,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{"retry": "write_reply", "done": END})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graph.invoke(inp, config={"recursion_limit": 3})</a:t>
            </a:r>
            <a:endParaRPr lang="en-US" sz="1150" dirty="0"/>
          </a:p>
        </p:txBody>
      </p:sp>
      <p:sp>
        <p:nvSpPr>
          <p:cNvPr id="6" name="note 1"/>
          <p:cNvSpPr/>
          <p:nvPr/>
        </p:nvSpPr>
        <p:spPr>
          <a:xfrm>
            <a:off x="5669280" y="1051560"/>
            <a:ext cx="301752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node 1"/>
          <p:cNvSpPr/>
          <p:nvPr/>
        </p:nvSpPr>
        <p:spPr>
          <a:xfrm>
            <a:off x="5806440" y="118872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06440" y="1188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11612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attempts counter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806440" y="1527048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Lives in the state so the router knows when to stop.</a:t>
            </a:r>
            <a:endParaRPr lang="en-US" sz="1200" dirty="0"/>
          </a:p>
        </p:txBody>
      </p:sp>
      <p:sp>
        <p:nvSpPr>
          <p:cNvPr id="11" name="note 2"/>
          <p:cNvSpPr/>
          <p:nvPr/>
        </p:nvSpPr>
        <p:spPr>
          <a:xfrm>
            <a:off x="5669280" y="2221992"/>
            <a:ext cx="301752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ode 2"/>
          <p:cNvSpPr/>
          <p:nvPr/>
        </p:nvSpPr>
        <p:spPr>
          <a:xfrm>
            <a:off x="5806440" y="2359152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806440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Mapping dict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806440" y="26974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Translates what the router returns ("retry") into where to go (write_reply).</a:t>
            </a:r>
            <a:endParaRPr lang="en-US" sz="1200" dirty="0"/>
          </a:p>
        </p:txBody>
      </p:sp>
      <p:sp>
        <p:nvSpPr>
          <p:cNvPr id="16" name="note 3"/>
          <p:cNvSpPr/>
          <p:nvPr/>
        </p:nvSpPr>
        <p:spPr>
          <a:xfrm>
            <a:off x="5669280" y="3392424"/>
            <a:ext cx="301752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node 3"/>
          <p:cNvSpPr/>
          <p:nvPr/>
        </p:nvSpPr>
        <p:spPr>
          <a:xfrm>
            <a:off x="5806440" y="3529584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06440" y="3529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35021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recursion_limit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806440" y="3867912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Hard stop on the number of steps: raises GraphRecursionError.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Run it and compare</a:t>
            </a:r>
            <a:endParaRPr lang="en-US" sz="2800" dirty="0"/>
          </a:p>
        </p:txBody>
      </p:sp>
      <p:sp>
        <p:nvSpPr>
          <p:cNvPr id="3" name="steps line"/>
          <p:cNvSpPr/>
          <p:nvPr/>
        </p:nvSpPr>
        <p:spPr>
          <a:xfrm>
            <a:off x="649224" y="1243584"/>
            <a:ext cx="61722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4" name="node 1"/>
          <p:cNvSpPr/>
          <p:nvPr/>
        </p:nvSpPr>
        <p:spPr>
          <a:xfrm>
            <a:off x="4572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Switch on Python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.venv\Scripts\activate</a:t>
            </a:r>
            <a:endParaRPr lang="en-US" sz="950" dirty="0"/>
          </a:p>
        </p:txBody>
      </p:sp>
      <p:sp>
        <p:nvSpPr>
          <p:cNvPr id="8" name="node 2"/>
          <p:cNvSpPr/>
          <p:nvPr/>
        </p:nvSpPr>
        <p:spPr>
          <a:xfrm>
            <a:off x="25146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146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5146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Run the example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5146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day07_loops.py</a:t>
            </a:r>
            <a:endParaRPr lang="en-US" sz="950" dirty="0"/>
          </a:p>
        </p:txBody>
      </p:sp>
      <p:sp>
        <p:nvSpPr>
          <p:cNvPr id="12" name="node 3"/>
          <p:cNvSpPr/>
          <p:nvPr/>
        </p:nvSpPr>
        <p:spPr>
          <a:xfrm>
            <a:off x="45720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Compare the output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Same shape as below? It works.</a:t>
            </a:r>
            <a:endParaRPr lang="en-US" sz="1100" dirty="0"/>
          </a:p>
        </p:txBody>
      </p:sp>
      <p:sp>
        <p:nvSpPr>
          <p:cNvPr id="16" name="node 4"/>
          <p:cNvSpPr/>
          <p:nvPr/>
        </p:nvSpPr>
        <p:spPr>
          <a:xfrm>
            <a:off x="66294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294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Change one thing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Predict the result, run again.</a:t>
            </a:r>
            <a:endParaRPr lang="en-US" sz="1100" dirty="0"/>
          </a:p>
        </p:txBody>
      </p:sp>
      <p:sp>
        <p:nvSpPr>
          <p:cNvPr id="20" name="code panel"/>
          <p:cNvSpPr/>
          <p:nvPr/>
        </p:nvSpPr>
        <p:spPr>
          <a:xfrm>
            <a:off x="457200" y="2286000"/>
            <a:ext cx="8229600" cy="2194560"/>
          </a:xfrm>
          <a:prstGeom prst="roundRect">
            <a:avLst>
              <a:gd name="adj" fmla="val 416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242316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EXPECTED OUTPUT</a:t>
            </a:r>
            <a:endParaRPr lang="en-US" sz="1000" dirty="0"/>
          </a:p>
        </p:txBody>
      </p:sp>
      <p:sp>
        <p:nvSpPr>
          <p:cNvPr id="22" name="code"/>
          <p:cNvSpPr txBox="1"/>
          <p:nvPr/>
        </p:nvSpPr>
        <p:spPr>
          <a:xfrm>
            <a:off x="640080" y="2743200"/>
            <a:ext cx="7863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python day07_loops.py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[write_reply]   attempt 1: Thanks. We are looking into it.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[check_quality] long enough? False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[write_reply]   attempt 2: ...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[check_quality] long enough? False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[write_reply]   attempt 3: ...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[check_quality] long enough? True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Stopped by recursion_limit=3 - this protects you from infinite loops (and big AI bills).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Build it yourself with AI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PASTE INTO CLAUDE CODE / COPILOT CHAT</a:t>
            </a:r>
            <a:endParaRPr lang="en-US" sz="1100" dirty="0"/>
          </a:p>
        </p:txBody>
      </p:sp>
      <p:sp>
        <p:nvSpPr>
          <p:cNvPr id="4" name="prompt card"/>
          <p:cNvSpPr/>
          <p:nvPr/>
        </p:nvSpPr>
        <p:spPr>
          <a:xfrm>
            <a:off x="457200" y="1325880"/>
            <a:ext cx="5394960" cy="3154680"/>
          </a:xfrm>
          <a:prstGeom prst="roundRect">
            <a:avLst>
              <a:gd name="adj" fmla="val 289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rompt"/>
          <p:cNvSpPr txBox="1"/>
          <p:nvPr/>
        </p:nvSpPr>
        <p:spPr>
          <a:xfrm>
            <a:off x="640080" y="1463040"/>
            <a:ext cx="50292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CONTEXT: LangGraph 1.x beginner.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GOAL: A loop graph: write_reply makes a draft (longer each attempt), check_quality approves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it if it is longer than 60 characters. If not approved and attempts &lt; 3, go back to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write_reply; otherwise end. Then show what happens with recursion_limit=3.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RULES: use add_conditional_edges with a mapping dict {"retry": ..., "done": END}.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0241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THEN</a:t>
            </a:r>
            <a:endParaRPr lang="en-US" sz="1100" dirty="0"/>
          </a:p>
        </p:txBody>
      </p:sp>
      <p:sp>
        <p:nvSpPr>
          <p:cNvPr id="7" name="node 1"/>
          <p:cNvSpPr/>
          <p:nvPr/>
        </p:nvSpPr>
        <p:spPr>
          <a:xfrm>
            <a:off x="6126480" y="137160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26480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134416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Run 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161848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Run the generated file right away.</a:t>
            </a:r>
            <a:endParaRPr lang="en-US" sz="1150" dirty="0"/>
          </a:p>
        </p:txBody>
      </p:sp>
      <p:sp>
        <p:nvSpPr>
          <p:cNvPr id="11" name="node 2"/>
          <p:cNvSpPr/>
          <p:nvPr/>
        </p:nvSpPr>
        <p:spPr>
          <a:xfrm>
            <a:off x="6126480" y="216027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0" y="2160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13283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Ask why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240715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"Explain this line by line for a C# developer."</a:t>
            </a:r>
            <a:endParaRPr lang="en-US" sz="1150" dirty="0"/>
          </a:p>
        </p:txBody>
      </p:sp>
      <p:sp>
        <p:nvSpPr>
          <p:cNvPr id="15" name="node 3"/>
          <p:cNvSpPr/>
          <p:nvPr/>
        </p:nvSpPr>
        <p:spPr>
          <a:xfrm>
            <a:off x="6126480" y="294894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26480" y="29489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29215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Break it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319582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Try odd inputs: capitals, empty text, typos.</a:t>
            </a:r>
            <a:endParaRPr lang="en-US" sz="1150" dirty="0"/>
          </a:p>
        </p:txBody>
      </p:sp>
      <p:sp>
        <p:nvSpPr>
          <p:cNvPr id="19" name="node 4"/>
          <p:cNvSpPr/>
          <p:nvPr/>
        </p:nvSpPr>
        <p:spPr>
          <a:xfrm>
            <a:off x="6126480" y="373761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26480" y="37376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371017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Compare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398449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Open code/day07_loops.py and spot the differences.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Check yourself and watch out</a:t>
            </a:r>
            <a:endParaRPr lang="en-US" sz="2800" dirty="0"/>
          </a:p>
        </p:txBody>
      </p:sp>
      <p:sp>
        <p:nvSpPr>
          <p:cNvPr id="3" name="check task card"/>
          <p:cNvSpPr/>
          <p:nvPr/>
        </p:nvSpPr>
        <p:spPr>
          <a:xfrm>
            <a:off x="457200" y="1051560"/>
            <a:ext cx="3931920" cy="3429000"/>
          </a:xfrm>
          <a:prstGeom prst="roundRect">
            <a:avLst>
              <a:gd name="adj" fmla="val 2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070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YOUR CHECK TASK</a:t>
            </a:r>
            <a:endParaRPr lang="en-US" sz="1100" dirty="0"/>
          </a:p>
        </p:txBody>
      </p:sp>
      <p:sp>
        <p:nvSpPr>
          <p:cNvPr id="5" name="check task"/>
          <p:cNvSpPr txBox="1"/>
          <p:nvPr/>
        </p:nvSpPr>
        <p:spPr>
          <a:xfrm>
            <a:off x="685800" y="1554480"/>
            <a:ext cx="34747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Change the maximum from 3 tries to 5 and the approval rule to "longer than 100 characters". Predict how many attempts will run </a:t>
            </a:r>
            <a:pPr indent="0" marL="0">
              <a:buNone/>
            </a:pPr>
            <a:r>
              <a:rPr lang="en-US" sz="1600" i="1" dirty="0">
                <a:solidFill>
                  <a:schemeClr val="bg1"/>
                </a:solidFill>
              </a:rPr>
              <a:t>before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 you run it.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6118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Score: </a:t>
            </a:r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3 works and you can explain it · 2 works with help · 1 attempted · 0 not tried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051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COMMON MISTAKES</a:t>
            </a:r>
            <a:endParaRPr lang="en-US" sz="1100" dirty="0"/>
          </a:p>
        </p:txBody>
      </p:sp>
      <p:sp>
        <p:nvSpPr>
          <p:cNvPr id="8" name="node !"/>
          <p:cNvSpPr/>
          <p:nvPr/>
        </p:nvSpPr>
        <p:spPr>
          <a:xfrm>
            <a:off x="4663440" y="1417320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3440" y="1417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!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13898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GraphRecursionError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176479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Your loop never ends. Check the counter and the router's stop condition.</a:t>
            </a:r>
            <a:endParaRPr lang="en-US" sz="1200" dirty="0"/>
          </a:p>
        </p:txBody>
      </p:sp>
      <p:sp>
        <p:nvSpPr>
          <p:cNvPr id="12" name="node !"/>
          <p:cNvSpPr/>
          <p:nvPr/>
        </p:nvSpPr>
        <p:spPr>
          <a:xfrm>
            <a:off x="4663440" y="2441448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2441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!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241401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Counter never increases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278892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Read the old value with state.get("attempts", 0) and return +1.</a:t>
            </a:r>
            <a:endParaRPr lang="en-US" sz="1200" dirty="0"/>
          </a:p>
        </p:txBody>
      </p:sp>
      <p:sp>
        <p:nvSpPr>
          <p:cNvPr id="16" name="node !"/>
          <p:cNvSpPr/>
          <p:nvPr/>
        </p:nvSpPr>
        <p:spPr>
          <a:xfrm>
            <a:off x="4663440" y="3465576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63440" y="3465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!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343814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Forgetting the cost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120640" y="381304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With AI, every loop is a paid call. Keep the maximum small.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Quiz: 5 questions</a:t>
            </a:r>
            <a:endParaRPr lang="en-US" sz="2800" dirty="0"/>
          </a:p>
        </p:txBody>
      </p:sp>
      <p:sp>
        <p:nvSpPr>
          <p:cNvPr id="3" name="node 1"/>
          <p:cNvSpPr/>
          <p:nvPr/>
        </p:nvSpPr>
        <p:spPr>
          <a:xfrm>
            <a:off x="457200" y="10972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115568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How is a loop made in LangGraph?</a:t>
            </a:r>
            <a:endParaRPr lang="en-US" sz="1600" dirty="0"/>
          </a:p>
        </p:txBody>
      </p:sp>
      <p:sp>
        <p:nvSpPr>
          <p:cNvPr id="6" name="node 2"/>
          <p:cNvSpPr/>
          <p:nvPr/>
        </p:nvSpPr>
        <p:spPr>
          <a:xfrm>
            <a:off x="457200" y="175564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773936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Why must the state hold an attempt counter?</a:t>
            </a:r>
            <a:endParaRPr lang="en-US" sz="1600" dirty="0"/>
          </a:p>
        </p:txBody>
      </p:sp>
      <p:sp>
        <p:nvSpPr>
          <p:cNvPr id="9" name="node 3"/>
          <p:cNvSpPr/>
          <p:nvPr/>
        </p:nvSpPr>
        <p:spPr>
          <a:xfrm>
            <a:off x="457200" y="24140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432304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error does </a:t>
            </a:r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recursion_limit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raise?</a:t>
            </a:r>
            <a:endParaRPr lang="en-US" sz="1600" dirty="0"/>
          </a:p>
        </p:txBody>
      </p:sp>
      <p:sp>
        <p:nvSpPr>
          <p:cNvPr id="12" name="node 4"/>
          <p:cNvSpPr/>
          <p:nvPr/>
        </p:nvSpPr>
        <p:spPr>
          <a:xfrm>
            <a:off x="457200" y="307238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090672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 </a:t>
            </a:r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add_conditional_edges("check", fn, {"retry": "write", "done": END})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, what is the dict for?</a:t>
            </a:r>
            <a:endParaRPr lang="en-US" sz="1600" dirty="0"/>
          </a:p>
        </p:txBody>
      </p:sp>
      <p:sp>
        <p:nvSpPr>
          <p:cNvPr id="15" name="node 5"/>
          <p:cNvSpPr/>
          <p:nvPr/>
        </p:nvSpPr>
        <p:spPr>
          <a:xfrm>
            <a:off x="457200" y="373075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730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749040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Name a real help-desk case where a loop is useful.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4348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Answer each one aloud or on paper before you look at the next slide. 1 point each.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Quiz answers</a:t>
            </a:r>
            <a:endParaRPr lang="en-US" sz="2800" dirty="0"/>
          </a:p>
        </p:txBody>
      </p:sp>
      <p:sp>
        <p:nvSpPr>
          <p:cNvPr id="3" name="node 1"/>
          <p:cNvSpPr/>
          <p:nvPr/>
        </p:nvSpPr>
        <p:spPr>
          <a:xfrm>
            <a:off x="457200" y="1097280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115568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conditional edge that can point back to an earlier node.</a:t>
            </a:r>
            <a:endParaRPr lang="en-US" sz="1600" dirty="0"/>
          </a:p>
        </p:txBody>
      </p:sp>
      <p:sp>
        <p:nvSpPr>
          <p:cNvPr id="6" name="node 2"/>
          <p:cNvSpPr/>
          <p:nvPr/>
        </p:nvSpPr>
        <p:spPr>
          <a:xfrm>
            <a:off x="457200" y="1755648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773936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So the router knows when to stop. Without it, the loop could run forever.</a:t>
            </a:r>
            <a:endParaRPr lang="en-US" sz="1600" dirty="0"/>
          </a:p>
        </p:txBody>
      </p:sp>
      <p:sp>
        <p:nvSpPr>
          <p:cNvPr id="9" name="node 3"/>
          <p:cNvSpPr/>
          <p:nvPr/>
        </p:nvSpPr>
        <p:spPr>
          <a:xfrm>
            <a:off x="457200" y="2414016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432304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GraphRecursionError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.</a:t>
            </a:r>
            <a:endParaRPr lang="en-US" sz="1600" dirty="0"/>
          </a:p>
        </p:txBody>
      </p:sp>
      <p:sp>
        <p:nvSpPr>
          <p:cNvPr id="12" name="node 4"/>
          <p:cNvSpPr/>
          <p:nvPr/>
        </p:nvSpPr>
        <p:spPr>
          <a:xfrm>
            <a:off x="457200" y="3072384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090672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maps what the router </a:t>
            </a:r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returns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("retry"/"done") to the node it </a:t>
            </a:r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goes to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.</a:t>
            </a:r>
            <a:endParaRPr lang="en-US" sz="1600" dirty="0"/>
          </a:p>
        </p:txBody>
      </p:sp>
      <p:sp>
        <p:nvSpPr>
          <p:cNvPr id="15" name="node 5"/>
          <p:cNvSpPr/>
          <p:nvPr/>
        </p:nvSpPr>
        <p:spPr>
          <a:xfrm>
            <a:off x="457200" y="373075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730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749040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Examples: re-ask the user until required info is provided, retry a failing API call, or have an AI improve its answer until a checker approves it.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4348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Got 4–5 right? Great. Fewer? Re-read the key ideas slide and try the quiz again tomorrow.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DAY 07 WRAP-UP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Key takeaways</a:t>
            </a:r>
            <a:endParaRPr lang="en-US" sz="3600" dirty="0"/>
          </a:p>
        </p:txBody>
      </p:sp>
      <p:sp>
        <p:nvSpPr>
          <p:cNvPr id="4" name="node 1"/>
          <p:cNvSpPr/>
          <p:nvPr/>
        </p:nvSpPr>
        <p:spPr>
          <a:xfrm>
            <a:off x="457200" y="169164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65506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 loop = a conditional edge pointing backwards</a:t>
            </a:r>
            <a:endParaRPr lang="en-US" sz="1600" dirty="0"/>
          </a:p>
        </p:txBody>
      </p:sp>
      <p:sp>
        <p:nvSpPr>
          <p:cNvPr id="7" name="node 2"/>
          <p:cNvSpPr/>
          <p:nvPr/>
        </p:nvSpPr>
        <p:spPr>
          <a:xfrm>
            <a:off x="457200" y="235000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31343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Always keep a counter and a maximum</a:t>
            </a:r>
            <a:endParaRPr lang="en-US" sz="1600" dirty="0"/>
          </a:p>
        </p:txBody>
      </p:sp>
      <p:sp>
        <p:nvSpPr>
          <p:cNvPr id="10" name="node 3"/>
          <p:cNvSpPr/>
          <p:nvPr/>
        </p:nvSpPr>
        <p:spPr>
          <a:xfrm>
            <a:off x="457200" y="300837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971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recursion_limit is the last line of defence</a:t>
            </a:r>
            <a:endParaRPr lang="en-US" sz="1600" dirty="0"/>
          </a:p>
        </p:txBody>
      </p:sp>
      <p:sp>
        <p:nvSpPr>
          <p:cNvPr id="13" name="score card"/>
          <p:cNvSpPr/>
          <p:nvPr/>
        </p:nvSpPr>
        <p:spPr>
          <a:xfrm>
            <a:off x="5349240" y="1691640"/>
            <a:ext cx="3337560" cy="1463040"/>
          </a:xfrm>
          <a:prstGeom prst="roundRect">
            <a:avLst>
              <a:gd name="adj" fmla="val 625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77840" y="18013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SCORE YOURSELF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577840" y="210312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Quiz /5 + check task /3 + explain it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to someone /2 = your score /10.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8–10 move on · 5–7 re-read · 0–4 get a buddy</a:t>
            </a:r>
            <a:endParaRPr lang="en-US" sz="1200" dirty="0"/>
          </a:p>
        </p:txBody>
      </p:sp>
      <p:sp>
        <p:nvSpPr>
          <p:cNvPr id="16" name="next card"/>
          <p:cNvSpPr/>
          <p:nvPr/>
        </p:nvSpPr>
        <p:spPr>
          <a:xfrm>
            <a:off x="5349240" y="3291840"/>
            <a:ext cx="3337560" cy="1051560"/>
          </a:xfrm>
          <a:prstGeom prst="roundRect">
            <a:avLst>
              <a:gd name="adj" fmla="val 869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77840" y="33832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NEXT UP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577840" y="363931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Day 08: Parallel desks and reducers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ngGraph Help Desk">
  <a:themeElements>
    <a:clrScheme name="LangGraph Help Desk">
      <a:dk1>
        <a:srgbClr val="1F2328"/>
      </a:dk1>
      <a:lt1>
        <a:srgbClr val="FFFFFF"/>
      </a:lt1>
      <a:dk2>
        <a:srgbClr val="0E3B43"/>
      </a:dk2>
      <a:lt2>
        <a:srgbClr val="EAF3F1"/>
      </a:lt2>
      <a:accent1>
        <a:srgbClr val="0E7C7B"/>
      </a:accent1>
      <a:accent2>
        <a:srgbClr val="F2A541"/>
      </a:accent2>
      <a:accent3>
        <a:srgbClr val="D9534F"/>
      </a:accent3>
      <a:accent4>
        <a:srgbClr val="5B8E7D"/>
      </a:accent4>
      <a:accent5>
        <a:srgbClr val="1E2A32"/>
      </a:accent5>
      <a:accent6>
        <a:srgbClr val="C9DEDA"/>
      </a:accent6>
      <a:hlink>
        <a:srgbClr val="0E7C7B"/>
      </a:hlink>
      <a:folHlink>
        <a:srgbClr val="5B8E7D"/>
      </a:folHlink>
    </a:clrScheme>
    <a:fontScheme name="LangGraph Help Des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07: Loops and the safety stop</dc:title>
  <dc:subject>LangGraph self-study guide</dc:subject>
  <dc:creator>Engineering Portal LangGraph program</dc:creator>
  <cp:lastModifiedBy>Engineering Portal LangGraph program</cp:lastModifiedBy>
  <cp:revision>1</cp:revision>
  <dcterms:created xsi:type="dcterms:W3CDTF">2026-10-24T05:21:15Z</dcterms:created>
  <dcterms:modified xsi:type="dcterms:W3CDTF">2026-10-24T05:21:15Z</dcterms:modified>
</cp:coreProperties>
</file>