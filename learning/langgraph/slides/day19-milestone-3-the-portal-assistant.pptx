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6"/>
                </a:solidFill>
              </a:rPr>
              <a:t>LangGraph from Zero · Day 19: Milestone 3, the Portal Assistant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96028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LangGraph from Zero · Day 19: Milestone 3, the Portal Assistant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WEEK 4  ·  DAY 19  ·  30 MIN MILESTONE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Milestone 3, the Portal Assistant</a:t>
            </a:r>
            <a:endParaRPr lang="en-US" sz="3600" dirty="0"/>
          </a:p>
        </p:txBody>
      </p:sp>
      <p:sp>
        <p:nvSpPr>
          <p:cNvPr id="4" name="goal"/>
          <p:cNvSpPr txBox="1"/>
          <p:nvPr/>
        </p:nvSpPr>
        <p:spPr>
          <a:xfrm>
            <a:off x="457200" y="2057400"/>
            <a:ext cx="42062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6"/>
                </a:solidFill>
              </a:rPr>
              <a:t>Build a Portal Assistant agent with at least 3 tools over the portal API (projects, employees, workload, training or regions; see src/app/api//route.js).</a:t>
            </a:r>
            <a:endParaRPr lang="en-US" sz="1600" dirty="0"/>
          </a:p>
        </p:txBody>
      </p:sp>
      <p:sp>
        <p:nvSpPr>
          <p:cNvPr id="5" name="outcomes card"/>
          <p:cNvSpPr/>
          <p:nvPr/>
        </p:nvSpPr>
        <p:spPr>
          <a:xfrm>
            <a:off x="5029200" y="1965960"/>
            <a:ext cx="3657600" cy="2377440"/>
          </a:xfrm>
          <a:prstGeom prst="roundRect">
            <a:avLst>
              <a:gd name="adj" fmla="val 3846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257800" y="2103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BY THE END YOU CAN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5257800" y="2551176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257800" y="255117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5715000" y="25146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Build a multi-tool agent over real data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5257800" y="3118104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257800" y="31181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715000" y="30815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Test an agent with tricky questions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5257800" y="3685032"/>
            <a:ext cx="329184" cy="329184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257800" y="368503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715000" y="3648456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Read an agent's message trace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Before you start</a:t>
            </a:r>
            <a:endParaRPr lang="en-US" sz="2800" dirty="0"/>
          </a:p>
        </p:txBody>
      </p:sp>
      <p:sp>
        <p:nvSpPr>
          <p:cNvPr id="3" name="checklist card"/>
          <p:cNvSpPr/>
          <p:nvPr/>
        </p:nvSpPr>
        <p:spPr>
          <a:xfrm>
            <a:off x="457200" y="1051560"/>
            <a:ext cx="4114800" cy="3429000"/>
          </a:xfrm>
          <a:prstGeom prst="roundRect">
            <a:avLst>
              <a:gd name="adj" fmla="val 266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CHECKLIST</a:t>
            </a:r>
            <a:endParaRPr lang="en-US" sz="1100" dirty="0"/>
          </a:p>
        </p:txBody>
      </p:sp>
      <p:sp>
        <p:nvSpPr>
          <p:cNvPr id="5" name="node "/>
          <p:cNvSpPr/>
          <p:nvPr/>
        </p:nvSpPr>
        <p:spPr>
          <a:xfrm>
            <a:off x="685800" y="157276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727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5179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Switch on Python (VS Code terminal)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180136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learning\langgraph\code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.venv\Scripts\activate</a:t>
            </a:r>
            <a:endParaRPr lang="en-US" sz="1100" dirty="0"/>
          </a:p>
        </p:txBody>
      </p:sp>
      <p:sp>
        <p:nvSpPr>
          <p:cNvPr id="9" name="node "/>
          <p:cNvSpPr/>
          <p:nvPr/>
        </p:nvSpPr>
        <p:spPr>
          <a:xfrm>
            <a:off x="685800" y="244144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44144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05840" y="23865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AI key needed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67004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ANTHROPIC_API_KEY in code\.env (see setup guide)</a:t>
            </a:r>
            <a:endParaRPr lang="en-US" sz="1100" dirty="0"/>
          </a:p>
        </p:txBody>
      </p:sp>
      <p:sp>
        <p:nvSpPr>
          <p:cNvPr id="13" name="node "/>
          <p:cNvSpPr/>
          <p:nvPr/>
        </p:nvSpPr>
        <p:spPr>
          <a:xfrm>
            <a:off x="685800" y="3310128"/>
            <a:ext cx="201168" cy="20116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3101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05840" y="32552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Portal running (2nd terminal, repo root)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53872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 →   http://localhost:3000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93776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YOUR 30 MINUTES</a:t>
            </a:r>
            <a:endParaRPr lang="en-US" sz="1100" dirty="0"/>
          </a:p>
        </p:txBody>
      </p:sp>
      <p:sp>
        <p:nvSpPr>
          <p:cNvPr id="18" name="timeline"/>
          <p:cNvSpPr/>
          <p:nvPr/>
        </p:nvSpPr>
        <p:spPr>
          <a:xfrm>
            <a:off x="5129784" y="1783080"/>
            <a:ext cx="0" cy="188976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19" name="node 1"/>
          <p:cNvSpPr/>
          <p:nvPr/>
        </p:nvSpPr>
        <p:spPr>
          <a:xfrm>
            <a:off x="4937760" y="160020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77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0" y="15544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0–5 min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486400" y="178308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Read the brief and the steps</a:t>
            </a:r>
            <a:endParaRPr lang="en-US" sz="1400" dirty="0"/>
          </a:p>
        </p:txBody>
      </p:sp>
      <p:sp>
        <p:nvSpPr>
          <p:cNvPr id="23" name="node 2"/>
          <p:cNvSpPr/>
          <p:nvPr/>
        </p:nvSpPr>
        <p:spPr>
          <a:xfrm>
            <a:off x="4937760" y="25450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937760" y="2545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0" y="249936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5–25 min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0" y="2727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Build it with your AI assistant</a:t>
            </a:r>
            <a:endParaRPr lang="en-US" sz="1400" dirty="0"/>
          </a:p>
        </p:txBody>
      </p:sp>
      <p:sp>
        <p:nvSpPr>
          <p:cNvPr id="27" name="node 3"/>
          <p:cNvSpPr/>
          <p:nvPr/>
        </p:nvSpPr>
        <p:spPr>
          <a:xfrm>
            <a:off x="4937760" y="348996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937760" y="34899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0" y="344424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25–30 min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0" y="36728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 yourself with the rubric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mission</a:t>
            </a:r>
            <a:endParaRPr lang="en-US" sz="2800" dirty="0"/>
          </a:p>
        </p:txBody>
      </p:sp>
      <p:sp>
        <p:nvSpPr>
          <p:cNvPr id="3" name="brief card"/>
          <p:cNvSpPr/>
          <p:nvPr/>
        </p:nvSpPr>
        <p:spPr>
          <a:xfrm>
            <a:off x="457200" y="1051560"/>
            <a:ext cx="8229600" cy="1775460"/>
          </a:xfrm>
          <a:prstGeom prst="roundRect">
            <a:avLst>
              <a:gd name="adj" fmla="val 51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brief"/>
          <p:cNvSpPr txBox="1"/>
          <p:nvPr/>
        </p:nvSpPr>
        <p:spPr>
          <a:xfrm>
            <a:off x="822960" y="1371600"/>
            <a:ext cx="7498080" cy="1135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Build a </a:t>
            </a:r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Portal Assistant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 agent with at least 3 tools over the portal API (projects, employees, workload, training or regions; see </a:t>
            </a:r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src/app/api/*/route.js</a:t>
            </a:r>
            <a:pPr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).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Step by step</a:t>
            </a:r>
            <a:endParaRPr lang="en-US" sz="2800" dirty="0"/>
          </a:p>
        </p:txBody>
      </p:sp>
      <p:sp>
        <p:nvSpPr>
          <p:cNvPr id="3" name="steps line"/>
          <p:cNvSpPr/>
          <p:nvPr/>
        </p:nvSpPr>
        <p:spPr>
          <a:xfrm>
            <a:off x="649224" y="1280160"/>
            <a:ext cx="0" cy="2706624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4" name="node 1"/>
          <p:cNvSpPr/>
          <p:nvPr/>
        </p:nvSpPr>
        <p:spPr>
          <a:xfrm>
            <a:off x="457200" y="1097280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097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1124712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Start the portal (npm run dev) and open a few /api/... URLs in the browser.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1773936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7739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51560" y="1801368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Write 3+ tools with clear docstrings and short outputs.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2450592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2450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51560" y="2478024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Create the agent with create_agent and a clear system prompt.</a:t>
            </a:r>
            <a:endParaRPr lang="en-US" sz="1600" dirty="0"/>
          </a:p>
        </p:txBody>
      </p:sp>
      <p:sp>
        <p:nvSpPr>
          <p:cNvPr id="13" name="node 4"/>
          <p:cNvSpPr/>
          <p:nvPr/>
        </p:nvSpPr>
        <p:spPr>
          <a:xfrm>
            <a:off x="457200" y="3127248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31272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51560" y="3154680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Test 5 questions: one needing two tools, one needing none, one about something that doesn't exist ("project Atlantis").</a:t>
            </a:r>
            <a:endParaRPr lang="en-US" sz="1600" dirty="0"/>
          </a:p>
        </p:txBody>
      </p:sp>
      <p:sp>
        <p:nvSpPr>
          <p:cNvPr id="16" name="node 5"/>
          <p:cNvSpPr/>
          <p:nvPr/>
        </p:nvSpPr>
        <p:spPr>
          <a:xfrm>
            <a:off x="457200" y="3803904"/>
            <a:ext cx="384048" cy="384048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38039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3831336"/>
            <a:ext cx="763524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Stop the portal and check the agent explains the problem politely.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Starter prompt for your AI assistant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PASTE INTO CLAUDE CODE / COPILOT CHAT</a:t>
            </a:r>
            <a:endParaRPr lang="en-US" sz="1100" dirty="0"/>
          </a:p>
        </p:txBody>
      </p:sp>
      <p:sp>
        <p:nvSpPr>
          <p:cNvPr id="4" name="prompt card"/>
          <p:cNvSpPr/>
          <p:nvPr/>
        </p:nvSpPr>
        <p:spPr>
          <a:xfrm>
            <a:off x="457200" y="1325880"/>
            <a:ext cx="5394960" cy="3154680"/>
          </a:xfrm>
          <a:prstGeom prst="roundRect">
            <a:avLst>
              <a:gd name="adj" fmla="val 289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5" name="prompt"/>
          <p:cNvSpPr txBox="1"/>
          <p:nvPr/>
        </p:nvSpPr>
        <p:spPr>
          <a:xfrm>
            <a:off x="640080" y="1463040"/>
            <a:ext cx="50292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CONTEXT: LangChain 1.x create_agent, requests, get_llm(). Portal runs on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http://localhost:3000 with GET /api/projects, /api/employees,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/api/workload.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GOAL: A Portal Assistant with 3 tools (one per endpoint). Each returns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short text lines. Catch connection errors and return them as text.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RULES: test 5 questions and print each answer.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126480" y="102412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TIPS</a:t>
            </a:r>
            <a:endParaRPr lang="en-US" sz="1100" dirty="0"/>
          </a:p>
        </p:txBody>
      </p:sp>
      <p:sp>
        <p:nvSpPr>
          <p:cNvPr id="7" name="node 1"/>
          <p:cNvSpPr/>
          <p:nvPr/>
        </p:nvSpPr>
        <p:spPr>
          <a:xfrm>
            <a:off x="6126480" y="137160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126480" y="1371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135331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each API URL in the browser first to see which fields exist.</a:t>
            </a:r>
            <a:endParaRPr lang="en-US" sz="1300" dirty="0"/>
          </a:p>
        </p:txBody>
      </p:sp>
      <p:sp>
        <p:nvSpPr>
          <p:cNvPr id="10" name="node 2"/>
          <p:cNvSpPr/>
          <p:nvPr/>
        </p:nvSpPr>
        <p:spPr>
          <a:xfrm>
            <a:off x="6126480" y="242316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26480" y="24231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40487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If the agent picks the wrong tool, rewrite that tool's docstring.</a:t>
            </a:r>
            <a:endParaRPr lang="en-US" sz="1300" dirty="0"/>
          </a:p>
        </p:txBody>
      </p:sp>
      <p:sp>
        <p:nvSpPr>
          <p:cNvPr id="13" name="node 3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37960" y="3456432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Use pretty_print() on the messages to see each step.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How you are scored</a:t>
            </a:r>
            <a:endParaRPr lang="en-US" sz="2800" dirty="0"/>
          </a:p>
        </p:txBody>
      </p:sp>
      <p:graphicFrame>
        <p:nvGraphicFramePr>
          <p:cNvPr id="7" name="rubric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566928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10058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Criterion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bg1"/>
                          </a:solidFill>
                        </a:rPr>
                        <a:t>Points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3+ working tools with clear docstrings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Correct answers on your 5 questions (1 pt each)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Handles 'doesn't exist' and 'portal down' gracefully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Short, readable tool outputs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chemeClr val="tx1"/>
                          </a:solidFill>
                        </a:rPr>
                        <a:t>You can walk through the message trace of one question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Total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chemeClr val="tx2"/>
                          </a:solidFill>
                        </a:rPr>
                        <a:t>20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core card"/>
          <p:cNvSpPr/>
          <p:nvPr/>
        </p:nvSpPr>
        <p:spPr>
          <a:xfrm>
            <a:off x="6400800" y="1097280"/>
            <a:ext cx="2286000" cy="3291840"/>
          </a:xfrm>
          <a:prstGeom prst="roundRect">
            <a:avLst>
              <a:gd name="adj" fmla="val 4000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0" y="13716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chemeClr val="accent2"/>
                </a:solidFill>
              </a:rPr>
              <a:t>20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0" y="23774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points available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2834640"/>
            <a:ext cx="2011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16–20  ready to move 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10–15  revisit weak parts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0–9     pair with a buddy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chemeClr val="accent2"/>
                </a:solidFill>
              </a:rPr>
              <a:t>DAY 19 WRAP-UP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7772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Key takeaways</a:t>
            </a:r>
            <a:endParaRPr lang="en-US" sz="3600" dirty="0"/>
          </a:p>
        </p:txBody>
      </p:sp>
      <p:sp>
        <p:nvSpPr>
          <p:cNvPr id="4" name="node 1"/>
          <p:cNvSpPr/>
          <p:nvPr/>
        </p:nvSpPr>
        <p:spPr>
          <a:xfrm>
            <a:off x="457200" y="1691640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6916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1655064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Agents + tools = answers from real systems</a:t>
            </a:r>
            <a:endParaRPr lang="en-US" sz="1600" dirty="0"/>
          </a:p>
        </p:txBody>
      </p:sp>
      <p:sp>
        <p:nvSpPr>
          <p:cNvPr id="7" name="node 2"/>
          <p:cNvSpPr/>
          <p:nvPr/>
        </p:nvSpPr>
        <p:spPr>
          <a:xfrm>
            <a:off x="457200" y="2350008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005840" y="2313432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Good docstrings decide tool choice</a:t>
            </a:r>
            <a:endParaRPr lang="en-US" sz="1600" dirty="0"/>
          </a:p>
        </p:txBody>
      </p:sp>
      <p:sp>
        <p:nvSpPr>
          <p:cNvPr id="10" name="node 3"/>
          <p:cNvSpPr/>
          <p:nvPr/>
        </p:nvSpPr>
        <p:spPr>
          <a:xfrm>
            <a:off x="457200" y="3008376"/>
            <a:ext cx="384048" cy="384048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30083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005840" y="297180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Always test the 'doesn't exist' and 'system down' cases</a:t>
            </a:r>
            <a:endParaRPr lang="en-US" sz="1600" dirty="0"/>
          </a:p>
        </p:txBody>
      </p:sp>
      <p:sp>
        <p:nvSpPr>
          <p:cNvPr id="13" name="score card"/>
          <p:cNvSpPr/>
          <p:nvPr/>
        </p:nvSpPr>
        <p:spPr>
          <a:xfrm>
            <a:off x="5349240" y="1691640"/>
            <a:ext cx="3337560" cy="1463040"/>
          </a:xfrm>
          <a:prstGeom prst="roundRect">
            <a:avLst>
              <a:gd name="adj" fmla="val 6250"/>
            </a:avLst>
          </a:prstGeom>
          <a:solidFill>
            <a:schemeClr val="accent5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77840" y="180136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SCORE YOURSELF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5577840" y="2103120"/>
            <a:ext cx="2971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Use the rubric (out of 20).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Note what to improve tomorrow.</a:t>
            </a:r>
            <a:endParaRPr lang="en-US" sz="1200" dirty="0"/>
          </a:p>
        </p:txBody>
      </p:sp>
      <p:sp>
        <p:nvSpPr>
          <p:cNvPr id="16" name="next card"/>
          <p:cNvSpPr/>
          <p:nvPr/>
        </p:nvSpPr>
        <p:spPr>
          <a:xfrm>
            <a:off x="5349240" y="3291840"/>
            <a:ext cx="3337560" cy="1051560"/>
          </a:xfrm>
          <a:prstGeom prst="roundRect">
            <a:avLst>
              <a:gd name="adj" fmla="val 8696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577840" y="338328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2"/>
                </a:solidFill>
              </a:rPr>
              <a:t>NEXT UP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5577840" y="3639312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Day 20: Short-term memory (checkpointer and threads)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138160" y="4796028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angGraph Help Desk">
  <a:themeElements>
    <a:clrScheme name="LangGraph Help Desk">
      <a:dk1>
        <a:srgbClr val="1F2328"/>
      </a:dk1>
      <a:lt1>
        <a:srgbClr val="FFFFFF"/>
      </a:lt1>
      <a:dk2>
        <a:srgbClr val="0E3B43"/>
      </a:dk2>
      <a:lt2>
        <a:srgbClr val="EAF3F1"/>
      </a:lt2>
      <a:accent1>
        <a:srgbClr val="0E7C7B"/>
      </a:accent1>
      <a:accent2>
        <a:srgbClr val="F2A541"/>
      </a:accent2>
      <a:accent3>
        <a:srgbClr val="D9534F"/>
      </a:accent3>
      <a:accent4>
        <a:srgbClr val="5B8E7D"/>
      </a:accent4>
      <a:accent5>
        <a:srgbClr val="1E2A32"/>
      </a:accent5>
      <a:accent6>
        <a:srgbClr val="C9DEDA"/>
      </a:accent6>
      <a:hlink>
        <a:srgbClr val="0E7C7B"/>
      </a:hlink>
      <a:folHlink>
        <a:srgbClr val="5B8E7D"/>
      </a:folHlink>
    </a:clrScheme>
    <a:fontScheme name="LangGraph Help Desk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19: Milestone 3, the Portal Assistant</dc:title>
  <dc:subject>LangGraph self-study guide</dc:subject>
  <dc:creator>Engineering Portal LangGraph program</dc:creator>
  <cp:lastModifiedBy>Engineering Portal LangGraph program</cp:lastModifiedBy>
  <cp:revision>1</cp:revision>
  <dcterms:created xsi:type="dcterms:W3CDTF">2026-10-24T05:21:16Z</dcterms:created>
  <dcterms:modified xsi:type="dcterms:W3CDTF">2026-10-24T05:21:16Z</dcterms:modified>
</cp:coreProperties>
</file>