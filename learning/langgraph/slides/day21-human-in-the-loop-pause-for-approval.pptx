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21: Human-in-the-loop (pause for approval)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21: Human-in-the-loop (pause for approval)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5  ·  DAY 21  ·  30 MIN SELF-STUDY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Human-in-the-loop (pause for approval)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Stop the graph, wait for a human decision, then continue.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Pause a graph with interrupt()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Resume it with Command(resume=...)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Decide where human approval belongs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Today's reference file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code/day21_human_approval.py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AI key needed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runs free and offline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21259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0–8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Understand: picture + key ideas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3088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3088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2631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8–13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4917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and run the example code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2971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13–23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yourself with AI</a:t>
            </a:r>
            <a:endParaRPr lang="en-US" sz="1400" dirty="0"/>
          </a:p>
        </p:txBody>
      </p:sp>
      <p:sp>
        <p:nvSpPr>
          <p:cNvPr id="31" name="node 4"/>
          <p:cNvSpPr/>
          <p:nvPr/>
        </p:nvSpPr>
        <p:spPr>
          <a:xfrm>
            <a:off x="4937760" y="37261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7261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36804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23–30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39090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 task, mistakes, quiz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picture in plain words</a:t>
            </a:r>
            <a:endParaRPr lang="en-US" sz="2800" dirty="0"/>
          </a:p>
        </p:txBody>
      </p:sp>
      <p:sp>
        <p:nvSpPr>
          <p:cNvPr id="3" name="analogy card"/>
          <p:cNvSpPr/>
          <p:nvPr/>
        </p:nvSpPr>
        <p:spPr>
          <a:xfrm>
            <a:off x="457200" y="1051560"/>
            <a:ext cx="8229600" cy="1600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“</a:t>
            </a:r>
            <a:endParaRPr lang="en-US" sz="4400" dirty="0"/>
          </a:p>
        </p:txBody>
      </p:sp>
      <p:sp>
        <p:nvSpPr>
          <p:cNvPr id="5" name="analogy"/>
          <p:cNvSpPr txBox="1"/>
          <p:nvPr/>
        </p:nvSpPr>
        <p:spPr>
          <a:xfrm>
            <a:off x="1143000" y="123444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leave request needs the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manager's signature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 The folder goes into the manager's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in-tray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and the process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sleeps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, for a minute or for three days. When the manager signs, it continues </a:t>
            </a:r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exactly where it stopped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FLOOR PLAN</a:t>
            </a:r>
            <a:endParaRPr lang="en-US" sz="1100" dirty="0"/>
          </a:p>
        </p:txBody>
      </p:sp>
      <p:sp>
        <p:nvSpPr>
          <p:cNvPr id="7" name="code panel"/>
          <p:cNvSpPr/>
          <p:nvPr/>
        </p:nvSpPr>
        <p:spPr>
          <a:xfrm>
            <a:off x="457200" y="3200400"/>
            <a:ext cx="8229600" cy="579120"/>
          </a:xfrm>
          <a:prstGeom prst="roundRect">
            <a:avLst>
              <a:gd name="adj" fmla="val 1578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0080" y="3337560"/>
            <a:ext cx="786384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-&gt; check_balance -&gt; manager_approval (PAUSE) -&gt; notify -&gt; END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Key ideas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115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idea 1"/>
          <p:cNvSpPr txBox="1"/>
          <p:nvPr/>
        </p:nvSpPr>
        <p:spPr>
          <a:xfrm>
            <a:off x="1051560" y="1097280"/>
            <a:ext cx="76352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Inside a node: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= interrupt({"question": "Approve?"})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This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stops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the run.</a:t>
            </a:r>
            <a:endParaRPr lang="en-US" sz="1400" dirty="0"/>
          </a:p>
        </p:txBody>
      </p:sp>
      <p:sp>
        <p:nvSpPr>
          <p:cNvPr id="6" name="node 2"/>
          <p:cNvSpPr/>
          <p:nvPr/>
        </p:nvSpPr>
        <p:spPr>
          <a:xfrm>
            <a:off x="457200" y="16977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7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idea 2"/>
          <p:cNvSpPr txBox="1"/>
          <p:nvPr/>
        </p:nvSpPr>
        <p:spPr>
          <a:xfrm>
            <a:off x="1051560" y="1679448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caller sees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result["__interrupt__"]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the in-tray item.</a:t>
            </a:r>
            <a:endParaRPr lang="en-US" sz="1400" dirty="0"/>
          </a:p>
        </p:txBody>
      </p:sp>
      <p:sp>
        <p:nvSpPr>
          <p:cNvPr id="9" name="node 3"/>
          <p:cNvSpPr/>
          <p:nvPr/>
        </p:nvSpPr>
        <p:spPr>
          <a:xfrm>
            <a:off x="457200" y="226466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264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idea 3"/>
          <p:cNvSpPr txBox="1"/>
          <p:nvPr/>
        </p:nvSpPr>
        <p:spPr>
          <a:xfrm>
            <a:off x="1051560" y="2246376"/>
            <a:ext cx="76352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 continue: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graph.invoke(Command(resume="approved"), config)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Now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interrupt()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returns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"approved"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2" name="node 4"/>
          <p:cNvSpPr/>
          <p:nvPr/>
        </p:nvSpPr>
        <p:spPr>
          <a:xfrm>
            <a:off x="457200" y="28468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46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idea 4"/>
          <p:cNvSpPr txBox="1"/>
          <p:nvPr/>
        </p:nvSpPr>
        <p:spPr>
          <a:xfrm>
            <a:off x="1051560" y="2828544"/>
            <a:ext cx="7635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checkpointer is required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because the paused folder must be filed somewhere.</a:t>
            </a:r>
            <a:endParaRPr lang="en-US" sz="1400" dirty="0"/>
          </a:p>
        </p:txBody>
      </p:sp>
      <p:sp>
        <p:nvSpPr>
          <p:cNvPr id="15" name="node 5"/>
          <p:cNvSpPr/>
          <p:nvPr/>
        </p:nvSpPr>
        <p:spPr>
          <a:xfrm>
            <a:off x="457200" y="34137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13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idea 5"/>
          <p:cNvSpPr txBox="1"/>
          <p:nvPr/>
        </p:nvSpPr>
        <p:spPr>
          <a:xfrm>
            <a:off x="1051560" y="3395472"/>
            <a:ext cx="76352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 it for anything risky: sending emails, approving money, changing data, publishing.</a:t>
            </a:r>
            <a:endParaRPr lang="en-US" sz="1400" dirty="0"/>
          </a:p>
        </p:txBody>
      </p:sp>
      <p:sp>
        <p:nvSpPr>
          <p:cNvPr id="18" name="node 6"/>
          <p:cNvSpPr/>
          <p:nvPr/>
        </p:nvSpPr>
        <p:spPr>
          <a:xfrm>
            <a:off x="457200" y="3995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idea 6"/>
          <p:cNvSpPr txBox="1"/>
          <p:nvPr/>
        </p:nvSpPr>
        <p:spPr>
          <a:xfrm>
            <a:off x="1051560" y="3977640"/>
            <a:ext cx="7635240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Also good to know: </a:t>
            </a:r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compile(interrupt_before=["node"])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always pauses before a node. It's handy for debugging.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See it in code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457200" y="1051560"/>
            <a:ext cx="5029200" cy="3429000"/>
          </a:xfrm>
          <a:prstGeom prst="roundRect">
            <a:avLst>
              <a:gd name="adj" fmla="val 2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code/day21_human_approval.py</a:t>
            </a:r>
            <a:endParaRPr lang="en-US" sz="1000" dirty="0"/>
          </a:p>
        </p:txBody>
      </p:sp>
      <p:sp>
        <p:nvSpPr>
          <p:cNvPr id="5" name="code"/>
          <p:cNvSpPr txBox="1"/>
          <p:nvPr/>
        </p:nvSpPr>
        <p:spPr>
          <a:xfrm>
            <a:off x="640080" y="1508760"/>
            <a:ext cx="4663440" cy="283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manager_approval(state):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 = interrupt({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"question": f"Approve {state['days']} days 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f"for {state['employee']}?"})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{"decision": decision}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builder.compile(checkpointer=InMemorySaver())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{"configurable": {"thread_id": "leave-42"}}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graph.invoke({"employee": "Priya",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"days": 5}, config)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print(result["__interrupt__"][0].value)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graph.invoke(Command(resume="approved"), config)</a:t>
            </a:r>
            <a:endParaRPr lang="en-US" sz="1050" dirty="0"/>
          </a:p>
        </p:txBody>
      </p:sp>
      <p:sp>
        <p:nvSpPr>
          <p:cNvPr id="6" name="note 1"/>
          <p:cNvSpPr/>
          <p:nvPr/>
        </p:nvSpPr>
        <p:spPr>
          <a:xfrm>
            <a:off x="5669280" y="1051560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ode 1"/>
          <p:cNvSpPr/>
          <p:nvPr/>
        </p:nvSpPr>
        <p:spPr>
          <a:xfrm>
            <a:off x="5806440" y="11887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interrupt()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527048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 run: STOP and hand the question to the caller (the in-tray).</a:t>
            </a:r>
            <a:endParaRPr lang="en-US" sz="1200" dirty="0"/>
          </a:p>
        </p:txBody>
      </p:sp>
      <p:sp>
        <p:nvSpPr>
          <p:cNvPr id="11" name="note 2"/>
          <p:cNvSpPr/>
          <p:nvPr/>
        </p:nvSpPr>
        <p:spPr>
          <a:xfrm>
            <a:off x="5669280" y="2221992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ode 2"/>
          <p:cNvSpPr/>
          <p:nvPr/>
        </p:nvSpPr>
        <p:spPr>
          <a:xfrm>
            <a:off x="5806440" y="235915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__interrupt__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6974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What the caller sees while the graph is paused.</a:t>
            </a:r>
            <a:endParaRPr lang="en-US" sz="1200" dirty="0"/>
          </a:p>
        </p:txBody>
      </p:sp>
      <p:sp>
        <p:nvSpPr>
          <p:cNvPr id="16" name="note 3"/>
          <p:cNvSpPr/>
          <p:nvPr/>
        </p:nvSpPr>
        <p:spPr>
          <a:xfrm>
            <a:off x="5669280" y="3392424"/>
            <a:ext cx="301752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ode 3"/>
          <p:cNvSpPr/>
          <p:nvPr/>
        </p:nvSpPr>
        <p:spPr>
          <a:xfrm>
            <a:off x="5806440" y="352958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Command(resume=)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386791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Continue with the same thread_id; interrupt() now RETURNS "approved".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Run it and compare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43584"/>
            <a:ext cx="6172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Switch on Python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950" dirty="0"/>
          </a:p>
        </p:txBody>
      </p:sp>
      <p:sp>
        <p:nvSpPr>
          <p:cNvPr id="8" name="node 2"/>
          <p:cNvSpPr/>
          <p:nvPr/>
        </p:nvSpPr>
        <p:spPr>
          <a:xfrm>
            <a:off x="25146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 the example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day21_human_approval.py</a:t>
            </a:r>
            <a:endParaRPr lang="en-US" sz="950" dirty="0"/>
          </a:p>
        </p:txBody>
      </p:sp>
      <p:sp>
        <p:nvSpPr>
          <p:cNvPr id="12" name="node 3"/>
          <p:cNvSpPr/>
          <p:nvPr/>
        </p:nvSpPr>
        <p:spPr>
          <a:xfrm>
            <a:off x="45720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the output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Same shape as below? It works.</a:t>
            </a:r>
            <a:endParaRPr lang="en-US" sz="1100" dirty="0"/>
          </a:p>
        </p:txBody>
      </p:sp>
      <p:sp>
        <p:nvSpPr>
          <p:cNvPr id="16" name="node 4"/>
          <p:cNvSpPr/>
          <p:nvPr/>
        </p:nvSpPr>
        <p:spPr>
          <a:xfrm>
            <a:off x="6629400" y="10515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5270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Change one thing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17830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Predict the result, run again.</a:t>
            </a:r>
            <a:endParaRPr lang="en-US" sz="1100" dirty="0"/>
          </a:p>
        </p:txBody>
      </p:sp>
      <p:sp>
        <p:nvSpPr>
          <p:cNvPr id="20" name="code panel"/>
          <p:cNvSpPr/>
          <p:nvPr/>
        </p:nvSpPr>
        <p:spPr>
          <a:xfrm>
            <a:off x="457200" y="2286000"/>
            <a:ext cx="8229600" cy="2194560"/>
          </a:xfrm>
          <a:prstGeom prst="roundRect">
            <a:avLst>
              <a:gd name="adj" fmla="val 41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4231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EXPECTED OUTPUT</a:t>
            </a:r>
            <a:endParaRPr lang="en-US" sz="1000" dirty="0"/>
          </a:p>
        </p:txBody>
      </p:sp>
      <p:sp>
        <p:nvSpPr>
          <p:cNvPr id="22" name="code"/>
          <p:cNvSpPr txBox="1"/>
          <p:nvPr/>
        </p:nvSpPr>
        <p:spPr>
          <a:xfrm>
            <a:off x="640080" y="274320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python day21_human_approval.py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PAUSED. Manager's in-tray: {'question': 'Approve 5 days leave for Priya?', 'balance_ok': True}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Manager, type approved / rejected: approved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Dear Priya, your leave request was approved.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Build it yourself with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LangGraph 1.x, interrupt and Command from langgraph.types, InMemorySaver.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Leave approval graph: check_balance (fake balances) -&gt; manager_approval which calls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interrupt() with a question -&gt; notify. Run until it pauses, print the in-tray question,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read approved/rejected from input(), resume with Command(resume=...), print the message.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 LLM needed.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441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61848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Run the generated file right away.</a:t>
            </a:r>
            <a:endParaRPr lang="en-US" sz="1150" dirty="0"/>
          </a:p>
        </p:txBody>
      </p:sp>
      <p:sp>
        <p:nvSpPr>
          <p:cNvPr id="11" name="node 2"/>
          <p:cNvSpPr/>
          <p:nvPr/>
        </p:nvSpPr>
        <p:spPr>
          <a:xfrm>
            <a:off x="6126480" y="216027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2160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13283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Ask why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0715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"Explain this line by line for a C# developer."</a:t>
            </a:r>
            <a:endParaRPr lang="en-US" sz="1150" dirty="0"/>
          </a:p>
        </p:txBody>
      </p:sp>
      <p:sp>
        <p:nvSpPr>
          <p:cNvPr id="15" name="node 3"/>
          <p:cNvSpPr/>
          <p:nvPr/>
        </p:nvSpPr>
        <p:spPr>
          <a:xfrm>
            <a:off x="6126480" y="294894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29489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9215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Break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19582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Try odd inputs: capitals, empty text, typos.</a:t>
            </a:r>
            <a:endParaRPr lang="en-US" sz="1150" dirty="0"/>
          </a:p>
        </p:txBody>
      </p:sp>
      <p:sp>
        <p:nvSpPr>
          <p:cNvPr id="19" name="node 4"/>
          <p:cNvSpPr/>
          <p:nvPr/>
        </p:nvSpPr>
        <p:spPr>
          <a:xfrm>
            <a:off x="6126480" y="373761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3737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1017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84498"/>
            <a:ext cx="2148840" cy="468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code/day21_human_approval.py and spot the differences.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Check yourself and watch out</a:t>
            </a:r>
            <a:endParaRPr lang="en-US" sz="2800" dirty="0"/>
          </a:p>
        </p:txBody>
      </p:sp>
      <p:sp>
        <p:nvSpPr>
          <p:cNvPr id="3" name="check task card"/>
          <p:cNvSpPr/>
          <p:nvPr/>
        </p:nvSpPr>
        <p:spPr>
          <a:xfrm>
            <a:off x="457200" y="1051560"/>
            <a:ext cx="3931920" cy="34290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YOUR CHECK TASK</a:t>
            </a:r>
            <a:endParaRPr lang="en-US" sz="1100" dirty="0"/>
          </a:p>
        </p:txBody>
      </p:sp>
      <p:sp>
        <p:nvSpPr>
          <p:cNvPr id="5" name="check task"/>
          <p:cNvSpPr txBox="1"/>
          <p:nvPr/>
        </p:nvSpPr>
        <p:spPr>
          <a:xfrm>
            <a:off x="685800" y="1554480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If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balance_ok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is False, skip the manager and go straight to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notify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 with "rejected: not enough balance". (Hint: a conditional edge after </a:t>
            </a:r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check_balance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.)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Score: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3 works and you can explain it · 2 works with help · 1 attempted · 0 not tried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COMMON MISTAKES</a:t>
            </a:r>
            <a:endParaRPr lang="en-US" sz="1100" dirty="0"/>
          </a:p>
        </p:txBody>
      </p:sp>
      <p:sp>
        <p:nvSpPr>
          <p:cNvPr id="8" name="node !"/>
          <p:cNvSpPr/>
          <p:nvPr/>
        </p:nvSpPr>
        <p:spPr>
          <a:xfrm>
            <a:off x="4663440" y="1417320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Error: no checkpointer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76479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interrupt needs one: compile(checkpointer=InMemorySaver()).</a:t>
            </a:r>
            <a:endParaRPr lang="en-US" sz="1200" dirty="0"/>
          </a:p>
        </p:txBody>
      </p:sp>
      <p:sp>
        <p:nvSpPr>
          <p:cNvPr id="12" name="node !"/>
          <p:cNvSpPr/>
          <p:nvPr/>
        </p:nvSpPr>
        <p:spPr>
          <a:xfrm>
            <a:off x="4663440" y="2441448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4140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Resume starts a new request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Use the SAME thread_id config when resuming.</a:t>
            </a:r>
            <a:endParaRPr lang="en-US" sz="1200" dirty="0"/>
          </a:p>
        </p:txBody>
      </p:sp>
      <p:sp>
        <p:nvSpPr>
          <p:cNvPr id="16" name="node !"/>
          <p:cNvSpPr/>
          <p:nvPr/>
        </p:nvSpPr>
        <p:spPr>
          <a:xfrm>
            <a:off x="4663440" y="3465576"/>
            <a:ext cx="310896" cy="31089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Approval lost overnight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81304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In-memory saves vanish on restart. Use a database checkpointer.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Quiz: 5 questions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does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interrupt()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do the first time it runs, and what does it return after resume?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is a checkpointer required?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do you resume a paused graph?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Can the human answer days later? What is needed for that?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3 places in our portal workflows where a human approval node fits.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Answer each one aloud or on paper before you look at the next slide. 1 point each.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Quiz answers</a:t>
            </a:r>
            <a:endParaRPr lang="en-US" sz="2800" dirty="0"/>
          </a:p>
        </p:txBody>
      </p:sp>
      <p:sp>
        <p:nvSpPr>
          <p:cNvPr id="3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115568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first time, it pauses the graph and sends its value to the caller. After resume, it returns the value passed in </a:t>
            </a:r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Command(resume=...)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node 2"/>
          <p:cNvSpPr/>
          <p:nvPr/>
        </p:nvSpPr>
        <p:spPr>
          <a:xfrm>
            <a:off x="457200" y="1755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73936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paused state must be saved so it can be picked up later.</a:t>
            </a:r>
            <a:endParaRPr lang="en-US" sz="1600" dirty="0"/>
          </a:p>
        </p:txBody>
      </p:sp>
      <p:sp>
        <p:nvSpPr>
          <p:cNvPr id="9" name="node 3"/>
          <p:cNvSpPr/>
          <p:nvPr/>
        </p:nvSpPr>
        <p:spPr>
          <a:xfrm>
            <a:off x="457200" y="2414016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graph.invoke(Command(resume=value), config)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with the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thread_id.</a:t>
            </a:r>
            <a:endParaRPr lang="en-US" sz="1600" dirty="0"/>
          </a:p>
        </p:txBody>
      </p:sp>
      <p:sp>
        <p:nvSpPr>
          <p:cNvPr id="12" name="node 4"/>
          <p:cNvSpPr/>
          <p:nvPr/>
        </p:nvSpPr>
        <p:spPr>
          <a:xfrm>
            <a:off x="457200" y="3072384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090672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Yes, with a persistent checkpointer (SQLite or Postgres) instead of the in-memory one.</a:t>
            </a:r>
            <a:endParaRPr lang="en-US" sz="1600" dirty="0"/>
          </a:p>
        </p:txBody>
      </p:sp>
      <p:sp>
        <p:nvSpPr>
          <p:cNvPr id="15" name="node 5"/>
          <p:cNvSpPr/>
          <p:nvPr/>
        </p:nvSpPr>
        <p:spPr>
          <a:xfrm>
            <a:off x="457200" y="373075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749040"/>
            <a:ext cx="7635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Examples: leave/travel approval, engineering review sign-off, client deliverable release, timesheet exceptions.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Got 4–5 right? Great. Fewer? Re-read the key ideas slide and try the quiz again tomorrow.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21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interrupt() = put the folder in the manager's in-tray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Resume with Command(resume=...) and the same thread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Use it for anything risky: money, emails, data changes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Quiz /5 + check task /3 + explain 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to someone /2 = your score /10.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8–10 move on · 5–7 re-read · 0–4 get a buddy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22: Streaming (watch it work live)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21: Human-in-the-loop (pause for approval)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