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411480"/>
            <a:ext cx="8229600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b="1" spc="200" kern="0" dirty="0">
                <a:solidFill>
                  <a:schemeClr val="accent2"/>
                </a:solidFill>
              </a:defRPr>
            </a:lvl1pPr>
          </a:lstStyle>
          <a:p>
            <a:pPr indent="0" marL="0">
              <a:buNone/>
            </a:pP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777240"/>
            <a:ext cx="822960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4" name="Text 0"/>
          <p:cNvSpPr txBox="1"/>
          <p:nvPr/>
        </p:nvSpPr>
        <p:spPr>
          <a:xfrm>
            <a:off x="457200" y="4796028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chemeClr val="accent6"/>
                </a:solidFill>
              </a:rPr>
              <a:t>LangGraph from Zero · Day 31: Compare and improve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96028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3" name="Text 0"/>
          <p:cNvSpPr txBox="1"/>
          <p:nvPr/>
        </p:nvSpPr>
        <p:spPr>
          <a:xfrm>
            <a:off x="457200" y="4796028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chemeClr val="accent4"/>
                </a:solidFill>
              </a:rPr>
              <a:t>LangGraph from Zero · Day 31: Compare and improve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96028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96028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WEEK 7  ·  DAY 31  ·  30 MIN CAPSTONE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77724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Compare and improve</a:t>
            </a:r>
            <a:endParaRPr lang="en-US" sz="3600" dirty="0"/>
          </a:p>
        </p:txBody>
      </p:sp>
      <p:sp>
        <p:nvSpPr>
          <p:cNvPr id="4" name="goal"/>
          <p:cNvSpPr txBox="1"/>
          <p:nvPr/>
        </p:nvSpPr>
        <p:spPr>
          <a:xfrm>
            <a:off x="457200" y="2057400"/>
            <a:ext cx="42062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6"/>
                </a:solidFill>
              </a:rPr>
              <a:t>Open code/capstone_helpdesk_agent.py, compare it with your version, fix your top 2 failures, and connect the portal's chat to your /ask endpoint.</a:t>
            </a:r>
            <a:endParaRPr lang="en-US" sz="1600" dirty="0"/>
          </a:p>
        </p:txBody>
      </p:sp>
      <p:sp>
        <p:nvSpPr>
          <p:cNvPr id="5" name="outcomes card"/>
          <p:cNvSpPr/>
          <p:nvPr/>
        </p:nvSpPr>
        <p:spPr>
          <a:xfrm>
            <a:off x="5029200" y="1965960"/>
            <a:ext cx="3657600" cy="2377440"/>
          </a:xfrm>
          <a:prstGeom prst="roundRect">
            <a:avLst>
              <a:gd name="adj" fmla="val 3846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257800" y="21031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2"/>
                </a:solidFill>
              </a:rPr>
              <a:t>BY THE END YOU CAN</a:t>
            </a:r>
            <a:endParaRPr lang="en-US" sz="1100" dirty="0"/>
          </a:p>
        </p:txBody>
      </p:sp>
      <p:sp>
        <p:nvSpPr>
          <p:cNvPr id="7" name="node 1"/>
          <p:cNvSpPr/>
          <p:nvPr/>
        </p:nvSpPr>
        <p:spPr>
          <a:xfrm>
            <a:off x="5257800" y="2551176"/>
            <a:ext cx="329184" cy="329184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257800" y="255117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1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5715000" y="251460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Compare your design with the reference</a:t>
            </a:r>
            <a:endParaRPr lang="en-US" sz="1300" dirty="0"/>
          </a:p>
        </p:txBody>
      </p:sp>
      <p:sp>
        <p:nvSpPr>
          <p:cNvPr id="10" name="node 2"/>
          <p:cNvSpPr/>
          <p:nvPr/>
        </p:nvSpPr>
        <p:spPr>
          <a:xfrm>
            <a:off x="5257800" y="3118104"/>
            <a:ext cx="329184" cy="329184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257800" y="311810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2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5715000" y="3081528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Fix the top issues from testing</a:t>
            </a:r>
            <a:endParaRPr lang="en-US" sz="1300" dirty="0"/>
          </a:p>
        </p:txBody>
      </p:sp>
      <p:sp>
        <p:nvSpPr>
          <p:cNvPr id="13" name="node 3"/>
          <p:cNvSpPr/>
          <p:nvPr/>
        </p:nvSpPr>
        <p:spPr>
          <a:xfrm>
            <a:off x="5257800" y="3685032"/>
            <a:ext cx="329184" cy="329184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257800" y="368503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3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5715000" y="3648456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Connect the agent to the portal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96028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Before you start</a:t>
            </a:r>
            <a:endParaRPr lang="en-US" sz="2800" dirty="0"/>
          </a:p>
        </p:txBody>
      </p:sp>
      <p:sp>
        <p:nvSpPr>
          <p:cNvPr id="3" name="checklist card"/>
          <p:cNvSpPr/>
          <p:nvPr/>
        </p:nvSpPr>
        <p:spPr>
          <a:xfrm>
            <a:off x="457200" y="1051560"/>
            <a:ext cx="4114800" cy="3429000"/>
          </a:xfrm>
          <a:prstGeom prst="roundRect">
            <a:avLst>
              <a:gd name="adj" fmla="val 2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85800" y="11887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1"/>
                </a:solidFill>
              </a:rPr>
              <a:t>CHECKLIST</a:t>
            </a:r>
            <a:endParaRPr lang="en-US" sz="1100" dirty="0"/>
          </a:p>
        </p:txBody>
      </p:sp>
      <p:sp>
        <p:nvSpPr>
          <p:cNvPr id="5" name="node "/>
          <p:cNvSpPr/>
          <p:nvPr/>
        </p:nvSpPr>
        <p:spPr>
          <a:xfrm>
            <a:off x="685800" y="1572768"/>
            <a:ext cx="201168" cy="20116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85800" y="157276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005840" y="1517904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Switch on Python (VS Code terminal)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005840" y="1801368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cd learning\langgraph\code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.venv\Scripts\activate</a:t>
            </a:r>
            <a:endParaRPr lang="en-US" sz="1100" dirty="0"/>
          </a:p>
        </p:txBody>
      </p:sp>
      <p:sp>
        <p:nvSpPr>
          <p:cNvPr id="9" name="node "/>
          <p:cNvSpPr/>
          <p:nvPr/>
        </p:nvSpPr>
        <p:spPr>
          <a:xfrm>
            <a:off x="685800" y="2441448"/>
            <a:ext cx="201168" cy="20116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85800" y="244144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1005840" y="2386584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AI key needed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005840" y="2670048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ANTHROPIC_API_KEY in code\.env (see setup guide)</a:t>
            </a:r>
            <a:endParaRPr lang="en-US" sz="1100" dirty="0"/>
          </a:p>
        </p:txBody>
      </p:sp>
      <p:sp>
        <p:nvSpPr>
          <p:cNvPr id="13" name="node "/>
          <p:cNvSpPr/>
          <p:nvPr/>
        </p:nvSpPr>
        <p:spPr>
          <a:xfrm>
            <a:off x="685800" y="3310128"/>
            <a:ext cx="201168" cy="20116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85800" y="331012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005840" y="3255264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Portal running (2nd terminal, repo root)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1005840" y="3538728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npm run dev   →   http://localhost:3000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4937760" y="11887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1"/>
                </a:solidFill>
              </a:rPr>
              <a:t>YOUR 30 MINUTES</a:t>
            </a:r>
            <a:endParaRPr lang="en-US" sz="1100" dirty="0"/>
          </a:p>
        </p:txBody>
      </p:sp>
      <p:sp>
        <p:nvSpPr>
          <p:cNvPr id="18" name="timeline"/>
          <p:cNvSpPr/>
          <p:nvPr/>
        </p:nvSpPr>
        <p:spPr>
          <a:xfrm>
            <a:off x="5129784" y="1783080"/>
            <a:ext cx="0" cy="1889760"/>
          </a:xfrm>
          <a:prstGeom prst="line">
            <a:avLst/>
          </a:prstGeom>
          <a:noFill/>
          <a:ln w="25400">
            <a:solidFill>
              <a:schemeClr val="accent6"/>
            </a:solidFill>
            <a:prstDash val="solid"/>
          </a:ln>
        </p:spPr>
      </p:sp>
      <p:sp>
        <p:nvSpPr>
          <p:cNvPr id="19" name="node 1"/>
          <p:cNvSpPr/>
          <p:nvPr/>
        </p:nvSpPr>
        <p:spPr>
          <a:xfrm>
            <a:off x="4937760" y="1600200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937760" y="1600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5486400" y="155448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0–5 min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5486400" y="178308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Read the brief and the steps</a:t>
            </a:r>
            <a:endParaRPr lang="en-US" sz="1400" dirty="0"/>
          </a:p>
        </p:txBody>
      </p:sp>
      <p:sp>
        <p:nvSpPr>
          <p:cNvPr id="23" name="node 2"/>
          <p:cNvSpPr/>
          <p:nvPr/>
        </p:nvSpPr>
        <p:spPr>
          <a:xfrm>
            <a:off x="4937760" y="2545080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4937760" y="2545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5486400" y="249936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5–25 min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5486400" y="272796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Build it with your AI assistant</a:t>
            </a:r>
            <a:endParaRPr lang="en-US" sz="1400" dirty="0"/>
          </a:p>
        </p:txBody>
      </p:sp>
      <p:sp>
        <p:nvSpPr>
          <p:cNvPr id="27" name="node 3"/>
          <p:cNvSpPr/>
          <p:nvPr/>
        </p:nvSpPr>
        <p:spPr>
          <a:xfrm>
            <a:off x="4937760" y="3489960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4937760" y="34899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5486400" y="344424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25–30 min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5486400" y="367284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Score yourself with the rubric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96028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Your mission</a:t>
            </a:r>
            <a:endParaRPr lang="en-US" sz="2800" dirty="0"/>
          </a:p>
        </p:txBody>
      </p:sp>
      <p:sp>
        <p:nvSpPr>
          <p:cNvPr id="3" name="brief"/>
          <p:cNvSpPr txBox="1"/>
          <p:nvPr/>
        </p:nvSpPr>
        <p:spPr>
          <a:xfrm>
            <a:off x="457200" y="105156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Open </a:t>
            </a:r>
            <a:pPr indent="0" marL="0">
              <a:buNone/>
            </a:pPr>
            <a:r>
              <a:rPr lang="en-US" sz="17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code/capstone_helpdesk_agent.py</a:t>
            </a:r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, compare it with your version, fix your top 2 failures, and </a:t>
            </a:r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connect the portal's chat</a:t>
            </a:r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 to your </a:t>
            </a:r>
            <a:pPr indent="0" marL="0">
              <a:buNone/>
            </a:pPr>
            <a:r>
              <a:rPr lang="en-US" sz="17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/ask</a:t>
            </a:r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 endpoint.</a:t>
            </a:r>
            <a:endParaRPr lang="en-US" sz="1700" dirty="0"/>
          </a:p>
        </p:txBody>
      </p:sp>
      <p:sp>
        <p:nvSpPr>
          <p:cNvPr id="4" name="code panel"/>
          <p:cNvSpPr/>
          <p:nvPr/>
        </p:nvSpPr>
        <p:spPr>
          <a:xfrm>
            <a:off x="457200" y="2240280"/>
            <a:ext cx="8229600" cy="1280160"/>
          </a:xfrm>
          <a:prstGeom prst="roundRect">
            <a:avLst>
              <a:gd name="adj" fmla="val 7143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2377440"/>
            <a:ext cx="7863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chemeClr val="accent2"/>
                </a:solidFill>
              </a:rPr>
              <a:t>THE DESIGN</a:t>
            </a:r>
            <a:endParaRPr lang="en-US" sz="1000" dirty="0"/>
          </a:p>
        </p:txBody>
      </p:sp>
      <p:sp>
        <p:nvSpPr>
          <p:cNvPr id="6" name="code"/>
          <p:cNvSpPr txBox="1"/>
          <p:nvPr/>
        </p:nvSpPr>
        <p:spPr>
          <a:xfrm>
            <a:off x="640080" y="2697480"/>
            <a:ext cx="7863840" cy="685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+--&gt; policy_answer ---------------------------+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START -&gt; classify --+--&gt; portal_agent (tools: projects, employees) --+--&gt; END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+--&gt; extract_leave -&gt; manager_approval (PAUSE) -&gt; notify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96028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Step by step</a:t>
            </a:r>
            <a:endParaRPr lang="en-US" sz="2800" dirty="0"/>
          </a:p>
        </p:txBody>
      </p:sp>
      <p:sp>
        <p:nvSpPr>
          <p:cNvPr id="3" name="steps line"/>
          <p:cNvSpPr/>
          <p:nvPr/>
        </p:nvSpPr>
        <p:spPr>
          <a:xfrm>
            <a:off x="649224" y="1280160"/>
            <a:ext cx="0" cy="2706624"/>
          </a:xfrm>
          <a:prstGeom prst="line">
            <a:avLst/>
          </a:prstGeom>
          <a:noFill/>
          <a:ln w="25400">
            <a:solidFill>
              <a:schemeClr val="accent6"/>
            </a:solidFill>
            <a:prstDash val="solid"/>
          </a:ln>
        </p:spPr>
      </p:sp>
      <p:sp>
        <p:nvSpPr>
          <p:cNvPr id="4" name="node 1"/>
          <p:cNvSpPr/>
          <p:nvPr/>
        </p:nvSpPr>
        <p:spPr>
          <a:xfrm>
            <a:off x="457200" y="1097280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0972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051560" y="1124712"/>
            <a:ext cx="763524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List 3 things the reference does better and 3 things YOUR version does better.</a:t>
            </a:r>
            <a:endParaRPr lang="en-US" sz="1600" dirty="0"/>
          </a:p>
        </p:txBody>
      </p:sp>
      <p:sp>
        <p:nvSpPr>
          <p:cNvPr id="7" name="node 2"/>
          <p:cNvSpPr/>
          <p:nvPr/>
        </p:nvSpPr>
        <p:spPr>
          <a:xfrm>
            <a:off x="457200" y="1773936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7200" y="17739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051560" y="1801368"/>
            <a:ext cx="763524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Fix the top 2 failing questions from Day 30.</a:t>
            </a:r>
            <a:endParaRPr lang="en-US" sz="1600" dirty="0"/>
          </a:p>
        </p:txBody>
      </p:sp>
      <p:sp>
        <p:nvSpPr>
          <p:cNvPr id="10" name="node 3"/>
          <p:cNvSpPr/>
          <p:nvPr/>
        </p:nvSpPr>
        <p:spPr>
          <a:xfrm>
            <a:off x="457200" y="2450592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57200" y="24505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051560" y="2478024"/>
            <a:ext cx="763524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Run your FastAPI server (uvicorn) on port 8000.</a:t>
            </a:r>
            <a:endParaRPr lang="en-US" sz="1600" dirty="0"/>
          </a:p>
        </p:txBody>
      </p:sp>
      <p:sp>
        <p:nvSpPr>
          <p:cNvPr id="13" name="node 4"/>
          <p:cNvSpPr/>
          <p:nvPr/>
        </p:nvSpPr>
        <p:spPr>
          <a:xfrm>
            <a:off x="457200" y="3127248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57200" y="31272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051560" y="3154680"/>
            <a:ext cx="763524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Change src/app/api/chat/route.js to fetch your /ask endpoint.</a:t>
            </a:r>
            <a:endParaRPr lang="en-US" sz="1600" dirty="0"/>
          </a:p>
        </p:txBody>
      </p:sp>
      <p:sp>
        <p:nvSpPr>
          <p:cNvPr id="16" name="node 5"/>
          <p:cNvSpPr/>
          <p:nvPr/>
        </p:nvSpPr>
        <p:spPr>
          <a:xfrm>
            <a:off x="457200" y="3803904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57200" y="38039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5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1051560" y="3831336"/>
            <a:ext cx="763524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Keep the old keyword logic as a fallback if the agent is down.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96028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Starter prompt for your AI assistant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2412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1"/>
                </a:solidFill>
              </a:rPr>
              <a:t>PASTE INTO CLAUDE CODE / COPILOT CHAT</a:t>
            </a:r>
            <a:endParaRPr lang="en-US" sz="1100" dirty="0"/>
          </a:p>
        </p:txBody>
      </p:sp>
      <p:sp>
        <p:nvSpPr>
          <p:cNvPr id="4" name="prompt card"/>
          <p:cNvSpPr/>
          <p:nvPr/>
        </p:nvSpPr>
        <p:spPr>
          <a:xfrm>
            <a:off x="457200" y="1325880"/>
            <a:ext cx="5394960" cy="3154680"/>
          </a:xfrm>
          <a:prstGeom prst="roundRect">
            <a:avLst>
              <a:gd name="adj" fmla="val 289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prompt"/>
          <p:cNvSpPr txBox="1"/>
          <p:nvPr/>
        </p:nvSpPr>
        <p:spPr>
          <a:xfrm>
            <a:off x="640080" y="1463040"/>
            <a:ext cx="5029200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CONTEXT: Next.js 14 API route src/app/api/chat/route.js (JavaScript).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 Python FastAPI agent runs at http://localhost:8000/ask taking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{question, thread_id} and returning {answer}.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GOAL: Make the route call the agent first. If the call fails or takes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more than 15 seconds, fall back to the existing keyword logic.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RULES: keep the existing response format; explain the change.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6126480" y="102412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1"/>
                </a:solidFill>
              </a:rPr>
              <a:t>TIPS</a:t>
            </a:r>
            <a:endParaRPr lang="en-US" sz="1100" dirty="0"/>
          </a:p>
        </p:txBody>
      </p:sp>
      <p:sp>
        <p:nvSpPr>
          <p:cNvPr id="7" name="node 1"/>
          <p:cNvSpPr/>
          <p:nvPr/>
        </p:nvSpPr>
        <p:spPr>
          <a:xfrm>
            <a:off x="6126480" y="1371600"/>
            <a:ext cx="310896" cy="310896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126480" y="13716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1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6537960" y="1353312"/>
            <a:ext cx="21488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Read the reference slowly: why each node exists matters more than the syntax.</a:t>
            </a:r>
            <a:endParaRPr lang="en-US" sz="1300" dirty="0"/>
          </a:p>
        </p:txBody>
      </p:sp>
      <p:sp>
        <p:nvSpPr>
          <p:cNvPr id="10" name="node 2"/>
          <p:cNvSpPr/>
          <p:nvPr/>
        </p:nvSpPr>
        <p:spPr>
          <a:xfrm>
            <a:off x="6126480" y="2423160"/>
            <a:ext cx="310896" cy="310896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126480" y="242316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2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6537960" y="2404872"/>
            <a:ext cx="21488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Test the fallback by stopping the Python server.</a:t>
            </a:r>
            <a:endParaRPr lang="en-US" sz="1300" dirty="0"/>
          </a:p>
        </p:txBody>
      </p:sp>
      <p:sp>
        <p:nvSpPr>
          <p:cNvPr id="13" name="node 3"/>
          <p:cNvSpPr/>
          <p:nvPr/>
        </p:nvSpPr>
        <p:spPr>
          <a:xfrm>
            <a:off x="6126480" y="3474720"/>
            <a:ext cx="310896" cy="310896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126480" y="34747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3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6537960" y="3456432"/>
            <a:ext cx="21488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Commit your work before changing the portal code.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96028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How you are scored</a:t>
            </a:r>
            <a:endParaRPr lang="en-US" sz="2800" dirty="0"/>
          </a:p>
        </p:txBody>
      </p:sp>
      <p:graphicFrame>
        <p:nvGraphicFramePr>
          <p:cNvPr id="7" name="rubric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5669280" cy="914400"/>
        </p:xfrm>
        <a:graphic>
          <a:graphicData uri="http://schemas.openxmlformats.org/drawingml/2006/table">
            <a:tbl>
              <a:tblPr/>
              <a:tblGrid>
                <a:gridCol w="4663440"/>
                <a:gridCol w="100584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Criterion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Points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Top 2 failures fixed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Portal chat calls the agent, with fallback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2"/>
                          </a:solidFill>
                        </a:rPr>
                        <a:t>Total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tx2"/>
                          </a:solidFill>
                        </a:rPr>
                        <a:t>10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score card"/>
          <p:cNvSpPr/>
          <p:nvPr/>
        </p:nvSpPr>
        <p:spPr>
          <a:xfrm>
            <a:off x="6400800" y="1097280"/>
            <a:ext cx="2286000" cy="3291840"/>
          </a:xfrm>
          <a:prstGeom prst="roundRect">
            <a:avLst>
              <a:gd name="adj" fmla="val 400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6400800" y="1371600"/>
            <a:ext cx="2286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chemeClr val="accent2"/>
                </a:solidFill>
              </a:rPr>
              <a:t>10</a:t>
            </a:r>
            <a:endParaRPr lang="en-US" sz="6000" dirty="0"/>
          </a:p>
        </p:txBody>
      </p:sp>
      <p:sp>
        <p:nvSpPr>
          <p:cNvPr id="6" name="Text 3"/>
          <p:cNvSpPr txBox="1"/>
          <p:nvPr/>
        </p:nvSpPr>
        <p:spPr>
          <a:xfrm>
            <a:off x="6400800" y="23774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points available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6583680" y="2834640"/>
            <a:ext cx="20116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8–10  ready to move on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5–7  revisit weak parts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0–4     pair with a buddy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96028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DAY 31 WRAP-UP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77724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Key takeaways</a:t>
            </a:r>
            <a:endParaRPr lang="en-US" sz="3600" dirty="0"/>
          </a:p>
        </p:txBody>
      </p:sp>
      <p:sp>
        <p:nvSpPr>
          <p:cNvPr id="4" name="node 1"/>
          <p:cNvSpPr/>
          <p:nvPr/>
        </p:nvSpPr>
        <p:spPr>
          <a:xfrm>
            <a:off x="457200" y="1691640"/>
            <a:ext cx="384048" cy="38404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6916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005840" y="1655064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Reference code is a teacher, not a shortcut</a:t>
            </a:r>
            <a:endParaRPr lang="en-US" sz="1600" dirty="0"/>
          </a:p>
        </p:txBody>
      </p:sp>
      <p:sp>
        <p:nvSpPr>
          <p:cNvPr id="7" name="node 2"/>
          <p:cNvSpPr/>
          <p:nvPr/>
        </p:nvSpPr>
        <p:spPr>
          <a:xfrm>
            <a:off x="457200" y="2350008"/>
            <a:ext cx="384048" cy="38404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7200" y="23500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005840" y="2313432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Always keep a fallback when adding AI to a product</a:t>
            </a:r>
            <a:endParaRPr lang="en-US" sz="1600" dirty="0"/>
          </a:p>
        </p:txBody>
      </p:sp>
      <p:sp>
        <p:nvSpPr>
          <p:cNvPr id="10" name="node 3"/>
          <p:cNvSpPr/>
          <p:nvPr/>
        </p:nvSpPr>
        <p:spPr>
          <a:xfrm>
            <a:off x="457200" y="3008376"/>
            <a:ext cx="384048" cy="38404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57200" y="30083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005840" y="2971800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The portal now talks to your LangGraph agent</a:t>
            </a:r>
            <a:endParaRPr lang="en-US" sz="1600" dirty="0"/>
          </a:p>
        </p:txBody>
      </p:sp>
      <p:sp>
        <p:nvSpPr>
          <p:cNvPr id="13" name="score card"/>
          <p:cNvSpPr/>
          <p:nvPr/>
        </p:nvSpPr>
        <p:spPr>
          <a:xfrm>
            <a:off x="5349240" y="1691640"/>
            <a:ext cx="3337560" cy="1463040"/>
          </a:xfrm>
          <a:prstGeom prst="roundRect">
            <a:avLst>
              <a:gd name="adj" fmla="val 6250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577840" y="1801368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2"/>
                </a:solidFill>
              </a:rPr>
              <a:t>SCORE YOURSELF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5577840" y="2103120"/>
            <a:ext cx="2971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Use the rubric (out of 10).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Note what to improve tomorrow.</a:t>
            </a:r>
            <a:endParaRPr lang="en-US" sz="1200" dirty="0"/>
          </a:p>
        </p:txBody>
      </p:sp>
      <p:sp>
        <p:nvSpPr>
          <p:cNvPr id="16" name="next card"/>
          <p:cNvSpPr/>
          <p:nvPr/>
        </p:nvSpPr>
        <p:spPr>
          <a:xfrm>
            <a:off x="5349240" y="3291840"/>
            <a:ext cx="3337560" cy="1051560"/>
          </a:xfrm>
          <a:prstGeom prst="roundRect">
            <a:avLst>
              <a:gd name="adj" fmla="val 8696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577840" y="338328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2"/>
                </a:solidFill>
              </a:rPr>
              <a:t>NEXT UP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5577840" y="3639312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Day 32: Demo day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96028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LangGraph Help Desk">
  <a:themeElements>
    <a:clrScheme name="LangGraph Help Desk">
      <a:dk1>
        <a:srgbClr val="1F2328"/>
      </a:dk1>
      <a:lt1>
        <a:srgbClr val="FFFFFF"/>
      </a:lt1>
      <a:dk2>
        <a:srgbClr val="0E3B43"/>
      </a:dk2>
      <a:lt2>
        <a:srgbClr val="EAF3F1"/>
      </a:lt2>
      <a:accent1>
        <a:srgbClr val="0E7C7B"/>
      </a:accent1>
      <a:accent2>
        <a:srgbClr val="F2A541"/>
      </a:accent2>
      <a:accent3>
        <a:srgbClr val="D9534F"/>
      </a:accent3>
      <a:accent4>
        <a:srgbClr val="5B8E7D"/>
      </a:accent4>
      <a:accent5>
        <a:srgbClr val="1E2A32"/>
      </a:accent5>
      <a:accent6>
        <a:srgbClr val="C9DEDA"/>
      </a:accent6>
      <a:hlink>
        <a:srgbClr val="0E7C7B"/>
      </a:hlink>
      <a:folHlink>
        <a:srgbClr val="5B8E7D"/>
      </a:folHlink>
    </a:clrScheme>
    <a:fontScheme name="LangGraph Help Desk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Day 31: Compare and improve</dc:title>
  <dc:subject>LangGraph self-study guide</dc:subject>
  <dc:creator>Engineering Portal LangGraph program</dc:creator>
  <cp:lastModifiedBy>Engineering Portal LangGraph program</cp:lastModifiedBy>
  <cp:revision>1</cp:revision>
  <dcterms:created xsi:type="dcterms:W3CDTF">2026-10-24T05:21:16Z</dcterms:created>
  <dcterms:modified xsi:type="dcterms:W3CDTF">2026-10-24T05:21:16Z</dcterms:modified>
</cp:coreProperties>
</file>